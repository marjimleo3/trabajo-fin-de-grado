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7" r:id="rId3"/>
    <p:sldId id="266" r:id="rId4"/>
    <p:sldId id="278" r:id="rId5"/>
    <p:sldId id="257" r:id="rId6"/>
    <p:sldId id="258" r:id="rId7"/>
    <p:sldId id="260" r:id="rId8"/>
    <p:sldId id="261" r:id="rId9"/>
    <p:sldId id="272" r:id="rId10"/>
    <p:sldId id="273" r:id="rId11"/>
    <p:sldId id="276" r:id="rId12"/>
    <p:sldId id="274" r:id="rId13"/>
    <p:sldId id="279" r:id="rId14"/>
    <p:sldId id="280" r:id="rId15"/>
    <p:sldId id="277" r:id="rId16"/>
    <p:sldId id="262" r:id="rId17"/>
    <p:sldId id="264" r:id="rId18"/>
    <p:sldId id="270" r:id="rId19"/>
    <p:sldId id="271" r:id="rId20"/>
    <p:sldId id="275" r:id="rId21"/>
    <p:sldId id="263" r:id="rId22"/>
    <p:sldId id="265" r:id="rId23"/>
    <p:sldId id="268" r:id="rId24"/>
    <p:sldId id="26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6247" autoAdjust="0"/>
  </p:normalViewPr>
  <p:slideViewPr>
    <p:cSldViewPr snapToGrid="0" snapToObjects="1">
      <p:cViewPr varScale="1">
        <p:scale>
          <a:sx n="140" d="100"/>
          <a:sy n="140" d="100"/>
        </p:scale>
        <p:origin x="774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25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73152"/>
            <a:ext cx="1371600" cy="499719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73152"/>
            <a:ext cx="731520" cy="4997196"/>
          </a:xfrm>
          <a:prstGeom prst="rect">
            <a:avLst/>
          </a:prstGeom>
          <a:solidFill>
            <a:srgbClr val="2A508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7315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Chollos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463040" y="132588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Alojamientos Turísticos de Andalucía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612648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04825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anomalías negativas en precios mediante ML supervisado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(regresión) y categorización automática de chollos · App web Streamlit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Jiménez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246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474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Sevilla · 2025–2026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700784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700784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944368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944368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187952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187952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431536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431536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675120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675120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918704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918704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Aplicación de Contenidos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r>
              <a:rPr lang="en-US" sz="12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24688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6984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72768" y="106984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21024" y="1069848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/ Función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44768" y="106984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en el proyecto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316736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(Fase 1)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572768" y="1316736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Selenium, webdriver-manager, BeautifulSoup4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21024" y="1316736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Scraping/Scrp_estancias_provincias.py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scrape_con_subdivision(), cargar_todo()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44768" y="1316736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Listados Booking: título, URL, valoración, tipo, estrellas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1691640"/>
            <a:ext cx="8595360" cy="3931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1709928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(Fase 2)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572768" y="1709928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Playwright, requests, GraphQL API Booking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621024" y="1709928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Scraping/Scrp_caracteristicas_estancias.py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BookingSession, _amenities(), _calendar()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44768" y="170992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Fichas: ubicación GPS, servicios, 365 días precios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2084832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2103120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72768" y="2103120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numpy, ast, json, regex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21024" y="2103120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Cleaning/preprocessing.py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extraer_servicios(), haversine_km_vec()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44768" y="2103120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binarios, distancia Haversine, feature eng.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74320" y="2478024"/>
            <a:ext cx="8595360" cy="3931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2496312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(ML sup.)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572768" y="24963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sklearn: LR, DT, RF · xgboost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21024" y="2496312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Modelizacion/Modelizacion.py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crear_bosque_aleatorio(), crear_boosting()...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144768" y="2496312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precio justo de referencia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" y="2871216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2889504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Chollo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572768" y="2889504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numpy.np.select · pandas.Series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621024" y="2889504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Modelizacion/Modelizacion.py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crear_etiqueta_chollo(y_real, y_predicho)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144768" y="2889504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categorías: inflado/normal/chollo/super/hiper (ratio)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3264408"/>
            <a:ext cx="8595360" cy="3931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" y="3282696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Tuning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572768" y="3282696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GridSearchCV, K-Fold cv=3, train_test_split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r2_score, MAE, RMSE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21024" y="3282696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Modelizacion/Modelizacion.py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train_test_validation_particion()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44768" y="3282696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70/15/15 · X_test tocado una sola vez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" y="3675888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572768" y="3675888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seaborn, matplotlib, plotly.express, plot_tree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621024" y="3675888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Graficos/Grafico_Alojamientos_Andalucia.py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Modelizacion/Modelizacion.py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144768" y="367588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coroplético, correlación, árbol, scatter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74320" y="4050792"/>
            <a:ext cx="8595360" cy="3931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47" name="Text 45"/>
          <p:cNvSpPr/>
          <p:nvPr/>
        </p:nvSpPr>
        <p:spPr>
          <a:xfrm>
            <a:off x="347472" y="4069080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+ serialización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572768" y="4069080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Streamlit, joblib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621024" y="4069080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App/main.py · App/pages/Busqueda.py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44768" y="4069080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formulario → scraping → regresión → chollos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74320" y="4443984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52" name="Text 50"/>
          <p:cNvSpPr/>
          <p:nvPr/>
        </p:nvSpPr>
        <p:spPr>
          <a:xfrm>
            <a:off x="347472" y="4462272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572768" y="446227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uv, pyproject.toml, python-</a:t>
            </a:r>
            <a:r>
              <a:rPr lang="en-US" sz="7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dotenv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621024" y="4462272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 · utils.py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144768" y="4462272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reproducible · paquetes editables · lockfile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57200" y="4828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Entorno y Arquitectura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663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· pyproject.toml · python-dotenv · </a:t>
            </a:r>
            <a:r>
              <a:rPr lang="en-US" sz="1100" dirty="0" err="1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</a:t>
            </a:r>
            <a:r>
              <a:rPr lang="en-US" sz="11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21990" y="962508"/>
            <a:ext cx="2743200" cy="3088284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1990" y="761341"/>
            <a:ext cx="155448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7" name="Text 5"/>
          <p:cNvSpPr/>
          <p:nvPr/>
        </p:nvSpPr>
        <p:spPr>
          <a:xfrm>
            <a:off x="1376854" y="761341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50006" y="1035661"/>
            <a:ext cx="248716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pyproject.toml (dependencias reales)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"TFG"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= [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"beautifulsoup4&gt;=4.14.3",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ipykernel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&gt;=7.2.0",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&gt;=1.4.0",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lxml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&gt;=6.0.2",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"matplotlib&gt;=3.9.0",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nbformat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&gt;=4.2.0",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&gt;=2.0.0",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"pandas&gt;=3.0.1",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"playwright&gt;=1.58.0",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&gt;=6.6.0",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"python-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dotenv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&gt;=1.0.0",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"requests&gt;=2.32.5",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"scikit-learn&gt;=1.8.0",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"seaborn&gt;=0.13.2",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"selenium&gt;=4.41.0",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setuptools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&gt;=82.0.1",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&gt;=1.35",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-manager&gt;=4.0.2",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&gt;=3.2.0"]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8770" y="987551"/>
            <a:ext cx="3063240" cy="2800385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8770" y="772668"/>
            <a:ext cx="246888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1" name="Text 9"/>
          <p:cNvSpPr/>
          <p:nvPr/>
        </p:nvSpPr>
        <p:spPr>
          <a:xfrm>
            <a:off x="4786884" y="77266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python-dotenv + utils.py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86786" y="1060704"/>
            <a:ext cx="280720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— rutas sin hardcode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BASE=C:/ruta/TFG/TFG_Chollos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utils.py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conseguir_ruta_general_TFG():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load_dotenv()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base_env = os.getenv("BASE")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base_env: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Path(base_env)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Paquete editable (pip install -e .)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importar desde cualquier módulo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TFG_Chollos.utils import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configurar_logger,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conseguir_ruta_general_TFG)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Logger centralizado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format="%(asctime)s | %(levelname)-8s"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 | %(message)s")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60663" y="4105656"/>
            <a:ext cx="2615184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60663" y="4105656"/>
            <a:ext cx="64008" cy="6583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9" name="Text 17"/>
          <p:cNvSpPr/>
          <p:nvPr/>
        </p:nvSpPr>
        <p:spPr>
          <a:xfrm>
            <a:off x="3613996" y="4147964"/>
            <a:ext cx="18006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como gestor de dependencias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25255" y="4434840"/>
            <a:ext cx="25103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moderna a pip. Más rápido, con uv.lock reproducible. uv sync instala todo en una orden.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26382" y="4100675"/>
            <a:ext cx="2510369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26382" y="4100675"/>
            <a:ext cx="64008" cy="6583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23" name="Text 21"/>
          <p:cNvSpPr/>
          <p:nvPr/>
        </p:nvSpPr>
        <p:spPr>
          <a:xfrm>
            <a:off x="6390974" y="4173827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locales editables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40340" y="4429859"/>
            <a:ext cx="23964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 install -e . vincula los módulos como librería. Cambios en código se reflejan sin reinstalar.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199" y="4114800"/>
            <a:ext cx="2926081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14800"/>
            <a:ext cx="64008" cy="6583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27" name="Text 25"/>
          <p:cNvSpPr/>
          <p:nvPr/>
        </p:nvSpPr>
        <p:spPr>
          <a:xfrm>
            <a:off x="610533" y="4154106"/>
            <a:ext cx="14011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para rutas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" y="444398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rutas absolutas </a:t>
            </a:r>
            <a:r>
              <a:rPr lang="en-US" sz="9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hardcodeadas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Estructura del Proyecto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alibri" pitchFamily="34" charset="0"/>
              </a:rPr>
              <a:t>TFG_Chollos/  ·  data/  ·  pyproject.toml  —  arquitectura modular por responsabilidad</a:t>
            </a:r>
          </a:p>
        </p:txBody>
      </p:sp>
      <p:sp>
        <p:nvSpPr>
          <p:cNvPr id="10" name="Hdr0"/>
          <p:cNvSpPr/>
          <p:nvPr/>
        </p:nvSpPr>
        <p:spPr>
          <a:xfrm>
            <a:off x="182880" y="875880"/>
            <a:ext cx="1755648" cy="228600"/>
          </a:xfrm>
          <a:prstGeom prst="rect">
            <a:avLst/>
          </a:prstGeom>
          <a:solidFill>
            <a:srgbClr val="5C3A1E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🕸️  Scraping/</a:t>
            </a:r>
          </a:p>
        </p:txBody>
      </p:sp>
      <p:sp>
        <p:nvSpPr>
          <p:cNvPr id="20" name="Code0"/>
          <p:cNvSpPr/>
          <p:nvPr/>
        </p:nvSpPr>
        <p:spPr>
          <a:xfrm>
            <a:off x="182880" y="1114200"/>
            <a:ext cx="1755648" cy="32364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91440" tIns="73440" rIns="73440" bIns="73440" rtlCol="0" anchor="t"/>
          <a:lstStyle/>
          <a:p>
            <a:pPr marL="0" indent="0">
              <a:buNone/>
            </a:pPr>
            <a:r>
              <a:rPr lang="es-ES" sz="740" dirty="0">
                <a:solidFill>
                  <a:srgbClr val="F0C060"/>
                </a:solidFill>
                <a:latin typeface="Consolas" pitchFamily="34" charset="0"/>
              </a:rPr>
              <a:t>Generador_urls_generales.py</a:t>
            </a:r>
          </a:p>
          <a:p>
            <a:pPr marL="0" indent="0">
              <a:buNone/>
            </a:pPr>
            <a:r>
              <a:rPr lang="es-ES" sz="760" b="1" dirty="0">
                <a:solidFill>
                  <a:srgbClr val="FFFFFF"/>
                </a:solidFill>
                <a:latin typeface="Consolas" pitchFamily="34" charset="0"/>
              </a:rPr>
              <a:t>Scrp_estancias_provincias.py</a:t>
            </a:r>
          </a:p>
          <a:p>
            <a:pPr marL="0" indent="0">
              <a:buNone/>
            </a:pPr>
            <a:r>
              <a:rPr lang="es-ES" sz="700" dirty="0">
                <a:solidFill>
                  <a:srgbClr val="64748B"/>
                </a:solidFill>
                <a:latin typeface="Consolas" pitchFamily="34" charset="0"/>
              </a:rPr>
              <a:t>  # Selenium · listados</a:t>
            </a:r>
          </a:p>
          <a:p>
            <a:pPr marL="0" indent="0">
              <a:buNone/>
            </a:pPr>
            <a:r>
              <a:rPr lang="es-ES" sz="740" b="1" dirty="0">
                <a:solidFill>
                  <a:srgbClr val="FFFFFF"/>
                </a:solidFill>
                <a:latin typeface="Consolas" pitchFamily="34" charset="0"/>
              </a:rPr>
              <a:t>Scrp_caracteristicas_estancias.py</a:t>
            </a:r>
          </a:p>
          <a:p>
            <a:pPr marL="0" indent="0">
              <a:buNone/>
            </a:pPr>
            <a:r>
              <a:rPr lang="es-ES" sz="700" dirty="0">
                <a:solidFill>
                  <a:srgbClr val="64748B"/>
                </a:solidFill>
                <a:latin typeface="Consolas" pitchFamily="34" charset="0"/>
              </a:rPr>
              <a:t>  # Playwright · fichas detalle</a:t>
            </a:r>
          </a:p>
          <a:p>
            <a:pPr marL="0" indent="0">
              <a:buNone/>
            </a:pPr>
            <a:r>
              <a:rPr lang="es-ES" sz="740" dirty="0">
                <a:solidFill>
                  <a:srgbClr val="F0C060"/>
                </a:solidFill>
                <a:latin typeface="Consolas" pitchFamily="34" charset="0"/>
              </a:rPr>
              <a:t>obtener_coordenadas_centros.py</a:t>
            </a:r>
          </a:p>
          <a:p>
            <a:pPr marL="0" indent="0">
              <a:buNone/>
            </a:pPr>
            <a:r>
              <a:rPr lang="es-ES" sz="700" dirty="0">
                <a:solidFill>
                  <a:srgbClr val="64748B"/>
                </a:solidFill>
                <a:latin typeface="Consolas" pitchFamily="34" charset="0"/>
              </a:rPr>
              <a:t>  # Geocodificación Nominatim</a:t>
            </a:r>
          </a:p>
          <a:p>
            <a:pPr marL="0" indent="0">
              <a:buNone/>
            </a:pPr>
            <a:r>
              <a:rPr lang="es-ES" sz="760" dirty="0">
                <a:solidFill>
                  <a:srgbClr val="F0C060"/>
                </a:solidFill>
                <a:latin typeface="Consolas" pitchFamily="34" charset="0"/>
              </a:rPr>
              <a:t>patch_room_size.py</a:t>
            </a:r>
          </a:p>
          <a:p>
            <a:pPr marL="0" indent="0">
              <a:buNone/>
            </a:pPr>
            <a:r>
              <a:rPr lang="es-ES" sz="700" dirty="0">
                <a:solidFill>
                  <a:srgbClr val="64748B"/>
                </a:solidFill>
                <a:latin typeface="Consolas" pitchFamily="34" charset="0"/>
              </a:rPr>
              <a:t>  # ThreadPoolExecutor</a:t>
            </a:r>
          </a:p>
          <a:p>
            <a:pPr marL="0" indent="0">
              <a:buNone/>
            </a:pPr>
            <a:r>
              <a:rPr lang="es-ES" sz="700" dirty="0">
                <a:solidFill>
                  <a:srgbClr val="64748B"/>
                </a:solidFill>
                <a:latin typeface="Consolas" pitchFamily="34" charset="0"/>
              </a:rPr>
              <a:t>  # (5 workers)</a:t>
            </a:r>
          </a:p>
        </p:txBody>
      </p:sp>
      <p:sp>
        <p:nvSpPr>
          <p:cNvPr id="11" name="Hdr1"/>
          <p:cNvSpPr/>
          <p:nvPr/>
        </p:nvSpPr>
        <p:spPr>
          <a:xfrm>
            <a:off x="1948248" y="875880"/>
            <a:ext cx="1755648" cy="228600"/>
          </a:xfrm>
          <a:prstGeom prst="rect">
            <a:avLst/>
          </a:prstGeom>
          <a:solidFill>
            <a:srgbClr val="1B4E6B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🧹  Cleaning/</a:t>
            </a:r>
          </a:p>
        </p:txBody>
      </p:sp>
      <p:sp>
        <p:nvSpPr>
          <p:cNvPr id="21" name="Code1"/>
          <p:cNvSpPr/>
          <p:nvPr/>
        </p:nvSpPr>
        <p:spPr>
          <a:xfrm>
            <a:off x="1948248" y="1114200"/>
            <a:ext cx="1755648" cy="32364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91440" tIns="73440" rIns="73440" bIns="73440" rtlCol="0" anchor="t"/>
          <a:lstStyle/>
          <a:p>
            <a:pPr marL="0" indent="0">
              <a:buNone/>
            </a:pPr>
            <a:r>
              <a:rPr lang="es-ES" sz="800" b="1" dirty="0">
                <a:solidFill>
                  <a:srgbClr val="FFFFFF"/>
                </a:solidFill>
                <a:latin typeface="Consolas" pitchFamily="34" charset="0"/>
              </a:rPr>
              <a:t>preprocessing.py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Limpieza y estructuración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FFFFFF"/>
                </a:solidFill>
                <a:latin typeface="Consolas" pitchFamily="34" charset="0"/>
              </a:rPr>
              <a:t>post_analisis.py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Eliminación de outliers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IQR · Tukey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FFFFFF"/>
                </a:solidFill>
                <a:latin typeface="Consolas" pitchFamily="34" charset="0"/>
              </a:rPr>
              <a:t>encoding.py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Codificación para ML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LabelEnc · OHE · joblib</a:t>
            </a:r>
          </a:p>
        </p:txBody>
      </p:sp>
      <p:sp>
        <p:nvSpPr>
          <p:cNvPr id="12" name="Hdr2"/>
          <p:cNvSpPr/>
          <p:nvPr/>
        </p:nvSpPr>
        <p:spPr>
          <a:xfrm>
            <a:off x="3713616" y="875880"/>
            <a:ext cx="1755648" cy="22860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🧠  Modelizacion/</a:t>
            </a:r>
          </a:p>
        </p:txBody>
      </p:sp>
      <p:sp>
        <p:nvSpPr>
          <p:cNvPr id="22" name="Code2"/>
          <p:cNvSpPr/>
          <p:nvPr/>
        </p:nvSpPr>
        <p:spPr>
          <a:xfrm>
            <a:off x="3713616" y="1114200"/>
            <a:ext cx="1755648" cy="32364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91440" tIns="73440" rIns="73440" bIns="73440" rtlCol="0" anchor="t"/>
          <a:lstStyle/>
          <a:p>
            <a:pPr marL="0" indent="0">
              <a:buNone/>
            </a:pPr>
            <a:r>
              <a:rPr lang="es-ES" sz="800" b="1" dirty="0">
                <a:solidFill>
                  <a:srgbClr val="FFFFFF"/>
                </a:solidFill>
                <a:latin typeface="Consolas" pitchFamily="34" charset="0"/>
              </a:rPr>
              <a:t>Modelizacion.py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Entrenamiento y evaluación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LR · DT · RF · XGBoost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FFFFFF"/>
                </a:solidFill>
                <a:latin typeface="Consolas" pitchFamily="34" charset="0"/>
              </a:rPr>
              <a:t>transformaciones.py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Partición 70 / 15 / 15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StandardScaler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D4A843"/>
                </a:solidFill>
                <a:latin typeface="Consolas" pitchFamily="34" charset="0"/>
              </a:rPr>
              <a:t>Graficos/</a:t>
            </a:r>
          </a:p>
          <a:p>
            <a:pPr marL="0" indent="0">
              <a:buNone/>
            </a:pPr>
            <a:r>
              <a:rPr lang="es-ES" sz="760" dirty="0">
                <a:solidFill>
                  <a:srgbClr val="F0C060"/>
                </a:solidFill>
                <a:latin typeface="Consolas" pitchFamily="34" charset="0"/>
              </a:rPr>
              <a:t>  Grafico_Alojamientos.py</a:t>
            </a:r>
          </a:p>
          <a:p>
            <a:pPr marL="0" indent="0">
              <a:buNone/>
            </a:pPr>
            <a:r>
              <a:rPr lang="es-ES" sz="780" b="1" dirty="0">
                <a:solidFill>
                  <a:srgbClr val="4FC3F7"/>
                </a:solidFill>
                <a:latin typeface="Consolas" pitchFamily="34" charset="0"/>
              </a:rPr>
              <a:t>  correlacion.R</a:t>
            </a:r>
          </a:p>
          <a:p>
            <a:pPr marL="0" indent="0">
              <a:buNone/>
            </a:pPr>
            <a:r>
              <a:rPr lang="es-ES" sz="700" dirty="0">
                <a:solidFill>
                  <a:srgbClr val="4FC3F7"/>
                </a:solidFill>
                <a:latin typeface="Consolas" pitchFamily="34" charset="0"/>
              </a:rPr>
              <a:t>  # Pearson · R 4.x · arrow</a:t>
            </a:r>
          </a:p>
        </p:txBody>
      </p:sp>
      <p:sp>
        <p:nvSpPr>
          <p:cNvPr id="13" name="Hdr3"/>
          <p:cNvSpPr/>
          <p:nvPr/>
        </p:nvSpPr>
        <p:spPr>
          <a:xfrm>
            <a:off x="5478984" y="875880"/>
            <a:ext cx="1755648" cy="228600"/>
          </a:xfrm>
          <a:prstGeom prst="rect">
            <a:avLst/>
          </a:prstGeom>
          <a:solidFill>
            <a:srgbClr val="5C1A1A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🖥️  App/</a:t>
            </a:r>
          </a:p>
        </p:txBody>
      </p:sp>
      <p:sp>
        <p:nvSpPr>
          <p:cNvPr id="23" name="Code3"/>
          <p:cNvSpPr/>
          <p:nvPr/>
        </p:nvSpPr>
        <p:spPr>
          <a:xfrm>
            <a:off x="5478984" y="1114200"/>
            <a:ext cx="1755648" cy="32364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91440" tIns="73440" rIns="73440" bIns="73440" rtlCol="0" anchor="t"/>
          <a:lstStyle/>
          <a:p>
            <a:pPr marL="0" indent="0">
              <a:buNone/>
            </a:pPr>
            <a:r>
              <a:rPr lang="es-ES" sz="790" b="1" dirty="0">
                <a:solidFill>
                  <a:srgbClr val="FFFFFF"/>
                </a:solidFill>
                <a:latin typeface="Consolas" pitchFamily="34" charset="0"/>
              </a:rPr>
              <a:t>main.py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Página principal (mapa)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F0C060"/>
                </a:solidFill>
                <a:latin typeface="Consolas" pitchFamily="34" charset="0"/>
              </a:rPr>
              <a:t>run.py  # Lanzador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F0C060"/>
                </a:solidFill>
                <a:latin typeface="Consolas" pitchFamily="34" charset="0"/>
              </a:rPr>
              <a:t>graficos_analisis.py</a:t>
            </a:r>
          </a:p>
          <a:p>
            <a:pPr marL="0" indent="0">
              <a:buNone/>
            </a:pPr>
            <a:r>
              <a:rPr lang="es-ES" sz="790" b="1" dirty="0">
                <a:solidFill>
                  <a:srgbClr val="FFFFFF"/>
                </a:solidFill>
                <a:latin typeface="Consolas" pitchFamily="34" charset="0"/>
              </a:rPr>
              <a:t>_predictor.py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Predicción (joblib)</a:t>
            </a:r>
          </a:p>
          <a:p>
            <a:pPr marL="0" indent="0">
              <a:buNone/>
            </a:pPr>
            <a:r>
              <a:rPr lang="es-ES" sz="790" b="1" dirty="0">
                <a:solidFill>
                  <a:srgbClr val="FFFFFF"/>
                </a:solidFill>
                <a:latin typeface="Consolas" pitchFamily="34" charset="0"/>
              </a:rPr>
              <a:t>_scraper_app.py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Scraping en real-time</a:t>
            </a:r>
          </a:p>
          <a:p>
            <a:pPr marL="0" indent="0">
              <a:buNone/>
            </a:pPr>
            <a:r>
              <a:rPr lang="es-ES" sz="790" b="1" dirty="0">
                <a:solidFill>
                  <a:srgbClr val="FFFFFF"/>
                </a:solidFill>
                <a:latin typeface="Consolas" pitchFamily="34" charset="0"/>
              </a:rPr>
              <a:t>_feature_engineering.py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Preprocesado predicción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D4A843"/>
                </a:solidFill>
                <a:latin typeface="Consolas" pitchFamily="34" charset="0"/>
              </a:rPr>
              <a:t>pages/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FFFFFF"/>
                </a:solidFill>
                <a:latin typeface="Consolas" pitchFamily="34" charset="0"/>
              </a:rPr>
              <a:t>  Busqueda.py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Búsqueda de chollos</a:t>
            </a:r>
          </a:p>
        </p:txBody>
      </p:sp>
      <p:sp>
        <p:nvSpPr>
          <p:cNvPr id="14" name="Hdr4"/>
          <p:cNvSpPr/>
          <p:nvPr/>
        </p:nvSpPr>
        <p:spPr>
          <a:xfrm>
            <a:off x="7244352" y="875880"/>
            <a:ext cx="1755648" cy="228600"/>
          </a:xfrm>
          <a:prstGeom prst="rect">
            <a:avLst/>
          </a:prstGeom>
          <a:solidFill>
            <a:srgbClr val="2C4A1A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💾  data/</a:t>
            </a:r>
          </a:p>
        </p:txBody>
      </p:sp>
      <p:sp>
        <p:nvSpPr>
          <p:cNvPr id="24" name="Code4"/>
          <p:cNvSpPr/>
          <p:nvPr/>
        </p:nvSpPr>
        <p:spPr>
          <a:xfrm>
            <a:off x="7244352" y="1114200"/>
            <a:ext cx="1755648" cy="32364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91440" tIns="73440" rIns="73440" bIns="73440" rtlCol="0" anchor="t"/>
          <a:lstStyle/>
          <a:p>
            <a:pPr marL="0" indent="0">
              <a:buNone/>
            </a:pPr>
            <a:r>
              <a:rPr lang="es-ES" sz="820" b="1" dirty="0">
                <a:solidFill>
                  <a:srgbClr val="F0C060"/>
                </a:solidFill>
                <a:latin typeface="Consolas" pitchFamily="34" charset="0"/>
              </a:rPr>
              <a:t>raw/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Datos brutos del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scraping (CSV)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20" b="1" dirty="0">
                <a:solidFill>
                  <a:srgbClr val="F0C060"/>
                </a:solidFill>
                <a:latin typeface="Consolas" pitchFamily="34" charset="0"/>
              </a:rPr>
              <a:t>processed/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Limpios + codificados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(.parquet)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20" b="1" dirty="0">
                <a:solidFill>
                  <a:srgbClr val="16A34A"/>
                </a:solidFill>
                <a:latin typeface="Consolas" pitchFamily="34" charset="0"/>
              </a:rPr>
              <a:t>models/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.pkl entrenados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20" b="1" dirty="0">
                <a:solidFill>
                  <a:srgbClr val="F0C060"/>
                </a:solidFill>
                <a:latin typeface="Consolas" pitchFamily="34" charset="0"/>
              </a:rPr>
              <a:t>resultados/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Métricas evaluación</a:t>
            </a:r>
          </a:p>
        </p:txBody>
      </p:sp>
      <p:sp>
        <p:nvSpPr>
          <p:cNvPr id="30" name="Bottom"/>
          <p:cNvSpPr/>
          <p:nvPr/>
        </p:nvSpPr>
        <p:spPr>
          <a:xfrm>
            <a:off x="182880" y="4390920"/>
            <a:ext cx="8778240" cy="274320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s-ES" sz="880" b="1" dirty="0">
                <a:solidFill>
                  <a:srgbClr val="D4A843"/>
                </a:solidFill>
                <a:latin typeface="Consolas" pitchFamily="34" charset="0"/>
              </a:rPr>
              <a:t>pyproject.toml</a:t>
            </a:r>
            <a:r>
              <a:rPr lang="es-ES" sz="820" dirty="0">
                <a:solidFill>
                  <a:srgbClr val="CBD5E1"/>
                </a:solidFill>
                <a:latin typeface="Calibri" pitchFamily="34" charset="0"/>
              </a:rPr>
              <a:t>  ·  uv · dependencias reproducibles · pip install -e .</a:t>
            </a:r>
            <a:r>
              <a:rPr lang="es-ES" sz="820" dirty="0">
                <a:latin typeface="Calibri" pitchFamily="34" charset="0"/>
              </a:rPr>
              <a:t>          </a:t>
            </a:r>
            <a:r>
              <a:rPr lang="es-ES" sz="880" b="1" dirty="0">
                <a:solidFill>
                  <a:srgbClr val="D4A843"/>
                </a:solidFill>
                <a:latin typeface="Consolas" pitchFamily="34" charset="0"/>
              </a:rPr>
              <a:t>utils.py</a:t>
            </a:r>
            <a:r>
              <a:rPr lang="es-ES" sz="820" dirty="0">
                <a:solidFill>
                  <a:srgbClr val="CBD5E1"/>
                </a:solidFill>
                <a:latin typeface="Calibri" pitchFamily="34" charset="0"/>
              </a:rPr>
              <a:t>  ·  conseguir_ruta_general_TFG() · configurar_logger() · python-dotenv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4A6080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5946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4A608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de Formación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DataCamp</a:t>
            </a:r>
            <a:r>
              <a:rPr lang="en-US" sz="11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 cursos · pandas, Python) + Dagster Essentials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14800" cy="23317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114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4358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Dagster Essentials  ·  Dagster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Emitido: 2026-04-23  ·  ID: xqym2ebkbt</a:t>
            </a:r>
            <a:endParaRPr lang="en-US" sz="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27" y="1645920"/>
            <a:ext cx="3311434" cy="17556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0" y="1170432"/>
            <a:ext cx="2194560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170432"/>
            <a:ext cx="2194560" cy="457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43584"/>
            <a:ext cx="2194560" cy="10241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26864" y="230428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Data with pandas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626864" y="2496312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Apr 2026 · 4h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6949440" y="1170432"/>
            <a:ext cx="2194560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49440" y="1170432"/>
            <a:ext cx="2194560" cy="457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243584"/>
            <a:ext cx="2194560" cy="10241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04304" y="230428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R Users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7004304" y="2496312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Apr 2026 · 5h</a:t>
            </a:r>
            <a:endParaRPr lang="en-US" sz="700" dirty="0"/>
          </a:p>
        </p:txBody>
      </p:sp>
      <p:sp>
        <p:nvSpPr>
          <p:cNvPr id="21" name="Shape 16"/>
          <p:cNvSpPr/>
          <p:nvPr/>
        </p:nvSpPr>
        <p:spPr>
          <a:xfrm>
            <a:off x="4572000" y="2798064"/>
            <a:ext cx="2194560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0" y="2798064"/>
            <a:ext cx="2194560" cy="457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871216"/>
            <a:ext cx="2194560" cy="10241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26864" y="39319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Efficient Code with pandas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4626864" y="412394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May 2026 · 4h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6949440" y="2798064"/>
            <a:ext cx="2194560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949440" y="2798064"/>
            <a:ext cx="2194560" cy="457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2871216"/>
            <a:ext cx="2194560" cy="10241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04304" y="39319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Data with pandas</a:t>
            </a:r>
            <a:endParaRPr lang="en-US" sz="750" dirty="0"/>
          </a:p>
        </p:txBody>
      </p:sp>
      <p:sp>
        <p:nvSpPr>
          <p:cNvPr id="30" name="Text 23"/>
          <p:cNvSpPr/>
          <p:nvPr/>
        </p:nvSpPr>
        <p:spPr>
          <a:xfrm>
            <a:off x="7004304" y="412394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May 2026 · 4h</a:t>
            </a:r>
            <a:endParaRPr lang="en-US" sz="700" dirty="0"/>
          </a:p>
        </p:txBody>
      </p:sp>
      <p:sp>
        <p:nvSpPr>
          <p:cNvPr id="31" name="Shape 24"/>
          <p:cNvSpPr/>
          <p:nvPr/>
        </p:nvSpPr>
        <p:spPr>
          <a:xfrm>
            <a:off x="274320" y="3639312"/>
            <a:ext cx="4193177" cy="11887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5"/>
          <p:cNvSpPr/>
          <p:nvPr/>
        </p:nvSpPr>
        <p:spPr>
          <a:xfrm>
            <a:off x="274320" y="3639312"/>
            <a:ext cx="4193177" cy="5486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3" y="3758184"/>
            <a:ext cx="2194560" cy="10058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596897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with pandas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2596897" y="4087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DataCamp · 4 HRS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2596897" y="4297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Completado: 07 May 2026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2596897" y="4507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mariostjl202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457200" y="4828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Problema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este proyecto?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920240" cy="822960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provincias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Andalucía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42032" y="1143000"/>
            <a:ext cx="1920240" cy="822960"/>
          </a:xfrm>
          <a:prstGeom prst="rect">
            <a:avLst/>
          </a:prstGeom>
          <a:solidFill>
            <a:srgbClr val="1E3A5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42032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26864" y="1143000"/>
            <a:ext cx="1920240" cy="822960"/>
          </a:xfrm>
          <a:prstGeom prst="rect">
            <a:avLst/>
          </a:prstGeom>
          <a:solidFill>
            <a:srgbClr val="1B5E2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categorías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26864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</a:t>
            </a: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/super/chollo/normal/inflado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11696" y="1143000"/>
            <a:ext cx="1920240" cy="822960"/>
          </a:xfrm>
          <a:prstGeom prst="rect">
            <a:avLst/>
          </a:prstGeom>
          <a:solidFill>
            <a:srgbClr val="7B341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11696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Regresión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11696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justo → etiqueta chollo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121408"/>
            <a:ext cx="40233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121408"/>
            <a:ext cx="64008" cy="987552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1945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El problema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2450592"/>
            <a:ext cx="3767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precios en Booking.com varían enormemente según servicios, ubicación, temporada y demanda. Sin apoyo de ML es imposible saber si un precio es justo o es un chollo real. Los usuarios pierden oportunidades de ahorro por falta de información comparativa.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121408"/>
            <a:ext cx="40233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121408"/>
            <a:ext cx="64008" cy="9875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21945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La solución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8032" y="2450592"/>
            <a:ext cx="3767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el precio justo mediante regresión ML. Comparar el precio real con el predicho y categorizar automáticamente (hiper-chollo / chollo / normal / inflado). El usuario accede a los chollos a través de </a:t>
            </a:r>
            <a:r>
              <a:rPr lang="en-US" sz="9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</a:t>
            </a:r>
            <a:r>
              <a:rPr lang="en-US" sz="9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Streamlit con sus preferencias.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273552"/>
            <a:ext cx="1481328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27355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938528" y="3538728"/>
            <a:ext cx="18288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Shape 27"/>
          <p:cNvSpPr/>
          <p:nvPr/>
        </p:nvSpPr>
        <p:spPr>
          <a:xfrm>
            <a:off x="2121408" y="3273552"/>
            <a:ext cx="1481328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121408" y="327355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02736" y="3538728"/>
            <a:ext cx="18288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Shape 30"/>
          <p:cNvSpPr/>
          <p:nvPr/>
        </p:nvSpPr>
        <p:spPr>
          <a:xfrm>
            <a:off x="3785616" y="3273552"/>
            <a:ext cx="1481328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85616" y="327355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ML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(precio justo)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66944" y="3538728"/>
            <a:ext cx="18288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5" name="Shape 33"/>
          <p:cNvSpPr/>
          <p:nvPr/>
        </p:nvSpPr>
        <p:spPr>
          <a:xfrm>
            <a:off x="5449824" y="3273552"/>
            <a:ext cx="1481328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49824" y="327355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(ratio real/pred)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931152" y="3538728"/>
            <a:ext cx="18288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8" name="Shape 36"/>
          <p:cNvSpPr/>
          <p:nvPr/>
        </p:nvSpPr>
        <p:spPr>
          <a:xfrm>
            <a:off x="7114032" y="3273552"/>
            <a:ext cx="1481328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14032" y="327355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Streamlit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final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39502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App: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187952"/>
            <a:ext cx="8229600" cy="256032"/>
          </a:xfrm>
          <a:prstGeom prst="rect">
            <a:avLst/>
          </a:prstGeom>
          <a:solidFill>
            <a:srgbClr val="2A50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548640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99032" y="4181421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578608" y="421538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56263" y="4181421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Booking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911672" y="421538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144191" y="4181421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datos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231347" y="420624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86400" y="4187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modelo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537960" y="421538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83680" y="4187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chollo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635240" y="421538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680960" y="4187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chollos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57200" y="4828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6" name="Text 42">
            <a:extLst>
              <a:ext uri="{FF2B5EF4-FFF2-40B4-BE49-F238E27FC236}">
                <a16:creationId xmlns:a16="http://schemas.microsoft.com/office/drawing/2014/main" id="{7150738E-4B16-13AD-7D76-C8BEDCAE17ED}"/>
              </a:ext>
            </a:extLst>
          </p:cNvPr>
          <p:cNvSpPr/>
          <p:nvPr/>
        </p:nvSpPr>
        <p:spPr>
          <a:xfrm>
            <a:off x="1197864" y="420624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· 2 Fases Diferenciadas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Scraping/Scrp_estancias_provincias.py  +  Scrp_caracteristicas_estancias.py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4114800" cy="198555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510153" y="1005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Listados por provincia (Selenium)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444751"/>
            <a:ext cx="4114800" cy="2488651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43584"/>
            <a:ext cx="411480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12435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Scrp_estancias_provincias.py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1483765"/>
            <a:ext cx="3858768" cy="2192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Anti-detección Selenium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options.add_argument(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"--disable-blink-features="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"AutomationControlled")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options.add_experimental_option(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"excludeSwitches",["enable-automation"])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Bloquea imágenes y fuentes (rendimiento)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prefs = {"profile.managed_default_content_"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"settings.images": 2, ".fonts": 2}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Superar límite 800: subdivisión recursiva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scrape_con_subdivision(driver, clave,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url, precio_min=0, precio_max=6000):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url_f = filtro_precio(url,precio_min,max)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= n_alojamientos(driver)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total &lt;= 750: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cargar_todo(driver)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extraer_alojamientos(driver,clave)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mid = (precio_min + precio_max) // 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(subdivision(...,mid) +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subdivision(...,mid,precio_max))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397455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974550"/>
            <a:ext cx="64008" cy="6583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404770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extraídos (Fase 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430373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 · título · url_estancia · valoracion_clientes · n_valoraciones · tipo · estrellas · fecha_extraccion_listado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029567"/>
            <a:ext cx="3931920" cy="218589"/>
          </a:xfrm>
          <a:prstGeom prst="rect">
            <a:avLst/>
          </a:prstGeom>
          <a:solidFill>
            <a:srgbClr val="1F5C4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9921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Fichas individuales (Playwright + GraphQL API)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444752"/>
            <a:ext cx="3931920" cy="248865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243584"/>
            <a:ext cx="393192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9744" y="124358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Scrp_caracteristicas_estancias.py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82896" y="1517904"/>
            <a:ext cx="367588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BookingSession: resuelve WAF una sola vez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luego reutiliza cookies en requests HTTP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BookingSession: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_init_session(self):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sync_playwright() as pw: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page.goto("https://www.booking.com/")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cookies = page.context.cookies()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c in cookies: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self.session.cookies.set(...)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GraphQL interna de Booking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GRAPHQL_URL = "https://www.booking.com/"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"dml/graphql"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FACILITIES_QUERY → servicios generales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CALENDAR_QUERY   → 365 días de precios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Habitación más barata: Playwright reutiliza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cookies → tr.hprt-table-cheapest-block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397455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974550"/>
            <a:ext cx="64008" cy="658368"/>
          </a:xfrm>
          <a:prstGeom prst="rect">
            <a:avLst/>
          </a:prstGeom>
          <a:solidFill>
            <a:srgbClr val="1F5C40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404770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extraídos (Fase 2)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430373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hotel_id · ubicación GPS · servicios generales · servicios habitación más barata · calendario 365 días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655778"/>
            <a:ext cx="8229600" cy="256032"/>
          </a:xfrm>
          <a:prstGeom prst="rect">
            <a:avLst/>
          </a:prstGeom>
          <a:solidFill>
            <a:srgbClr val="5C3A1E"/>
          </a:solidFill>
          <a:ln/>
        </p:spPr>
      </p:sp>
      <p:sp>
        <p:nvSpPr>
          <p:cNvPr id="27" name="Text 25"/>
          <p:cNvSpPr/>
          <p:nvPr/>
        </p:nvSpPr>
        <p:spPr>
          <a:xfrm>
            <a:off x="568234" y="4658391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2b — patch_room_size.py: extrae tamaño real de habitación ("44 m²"). Reanudable, ThreadPoolExecutor (5 workers paralelos).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90118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86800" y="4855464"/>
            <a:ext cx="365760" cy="246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 de Datos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Cleaning/preprocessing.py  →  post_analisis.py  →  encoding.py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114800" cy="178308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74320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144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Extracción servicios + precios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1188720"/>
            <a:ext cx="385876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Extracción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booleanos</a:t>
            </a:r>
            <a:endParaRPr lang="en-US" sz="9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serv.lower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for serv 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ast.literal_eval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(fila['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12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columnas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binarias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int8: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Parking,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Parking_gratis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Gimnasio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Piscina,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Piscina_interior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Piscina_infinita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Aire,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Calefaccion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Vistas,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Terraza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Baño_privado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3931920" cy="178308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192024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9144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haversine_km_vec()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82896" y="1188720"/>
            <a:ext cx="367588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Distancia al centro (Haversine vectorizado)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haversine_km_vec(lats,lons,lat2,lon2):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= 6371.0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dlat = np.radians(lat2 - lats)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dlon = np.radians(lon2 - lons)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= (np.sin(dlat/2)**2 +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np.cos(np.radians(lats)) *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math.cos(math.radians(lat2)) *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np.sin(dlon/2)**2)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(R*2*np.arcsin(np.sqrt(a))).round(3)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Coordenadas centros cargadas desde CSV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coords = cargar_coords_centros(BASE)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añadir_distancia_centro(df, coords)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4114800" cy="1380744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98064"/>
            <a:ext cx="192024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79806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limpiar_db_final()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" y="3072384"/>
            <a:ext cx="38587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Limpieza y tipado final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engineering temporal</a:t>
            </a:r>
            <a:endParaRPr lang="en-US" sz="800" dirty="0"/>
          </a:p>
          <a:p>
            <a:pPr marL="0" indent="0">
              <a:buNone/>
            </a:pP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es_finde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   = 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fecha_disponible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'].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dt.dayofweek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.isin([4,5]).astype('int8')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db['es_domingo'] = (db['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fecha_disponible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'].dt.dayofweek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== 6).astype('int8’)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Localidad extraída con regex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localidad = raw['direccion'].str.extract(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r',s*d{5}s+([^,]+),')[0]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2999232"/>
            <a:ext cx="3931920" cy="256032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999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finales del dataset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255264"/>
            <a:ext cx="393192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26440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· localidad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06640" y="326440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3419856"/>
            <a:ext cx="3931920" cy="1645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42900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 · longitud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06640" y="342900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float64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3584448"/>
            <a:ext cx="393192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5935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distancia_centro_km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06640" y="359359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749040"/>
            <a:ext cx="3931920" cy="1645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7581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· estrellas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06640" y="3758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 int8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3913632"/>
            <a:ext cx="393192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9227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valoracion_clientes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06640" y="392277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4078224"/>
            <a:ext cx="3931920" cy="1645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408736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n_valoraciones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06640" y="40873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4242816"/>
            <a:ext cx="393192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42519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tamaño_habitacion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06640" y="425196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 (m²)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4407408"/>
            <a:ext cx="3931920" cy="1645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41655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servicios binarios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06640" y="44165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 (0/1)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54880" y="4572000"/>
            <a:ext cx="393192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45811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es_finde · es_domingo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06640" y="458114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54880" y="4736592"/>
            <a:ext cx="3931920" cy="1645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474573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dias_restantes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06640" y="474573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0" y="4901184"/>
            <a:ext cx="393192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49103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(target)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06640" y="491032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int32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28600" y="49651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Chollos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Andalucía · Mario Jiménez · Universidad de Sevilla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Hdr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Preprocesamiento · Gestión de Valores Nulos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onsolas" pitchFamily="34" charset="0"/>
              </a:rPr>
              <a:t>Cleaning/preprocessing.py  →  limpiar_db_final()</a:t>
            </a:r>
          </a:p>
        </p:txBody>
      </p:sp>
      <p:sp>
        <p:nvSpPr>
          <p:cNvPr id="6" name="LblElim"/>
          <p:cNvSpPr/>
          <p:nvPr/>
        </p:nvSpPr>
        <p:spPr>
          <a:xfrm>
            <a:off x="274320" y="868680"/>
            <a:ext cx="3886200" cy="27432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❌  Eliminación de registros (dropna)</a:t>
            </a:r>
          </a:p>
        </p:txBody>
      </p:sp>
      <p:sp>
        <p:nvSpPr>
          <p:cNvPr id="7" name="CardElim"/>
          <p:cNvSpPr/>
          <p:nvPr/>
        </p:nvSpPr>
        <p:spPr>
          <a:xfrm>
            <a:off x="274320" y="1143000"/>
            <a:ext cx="3886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900" b="1" dirty="0">
                <a:solidFill>
                  <a:srgbClr val="1A2E4A"/>
                </a:solidFill>
                <a:latin typeface="Calibri" pitchFamily="34" charset="0"/>
              </a:rPr>
              <a:t>Variables obligatorias (2,2% registros):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2A5080"/>
                </a:solidFill>
                <a:latin typeface="Consolas" pitchFamily="34" charset="0"/>
              </a:rPr>
              <a:t>latitud, longitud,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2A5080"/>
                </a:solidFill>
                <a:latin typeface="Consolas" pitchFamily="34" charset="0"/>
              </a:rPr>
              <a:t>latitud_centro, longitud_centro,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2A5080"/>
                </a:solidFill>
                <a:latin typeface="Consolas" pitchFamily="34" charset="0"/>
              </a:rPr>
              <a:t>distancia_centro_km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374151"/>
                </a:solidFill>
                <a:latin typeface="Calibri" pitchFamily="34" charset="0"/>
              </a:rPr>
              <a:t>Sin coordenadas GPS no se puede calcular distancia_centro_km, variable clave del modelo. Pérdida asumible (2,2%).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50" b="1" dirty="0">
                <a:solidFill>
                  <a:srgbClr val="1A2E4A"/>
                </a:solidFill>
                <a:latin typeface="Calibri" pitchFamily="34" charset="0"/>
              </a:rPr>
              <a:t>Localidad ≠ '9':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374151"/>
                </a:solidFill>
                <a:latin typeface="Calibri" pitchFamily="34" charset="0"/>
              </a:rPr>
              <a:t>Error de geocodificación detectado manualmente.</a:t>
            </a:r>
          </a:p>
        </p:txBody>
      </p:sp>
      <p:sp>
        <p:nvSpPr>
          <p:cNvPr id="8" name="Code"/>
          <p:cNvSpPr/>
          <p:nvPr/>
        </p:nvSpPr>
        <p:spPr>
          <a:xfrm>
            <a:off x="274320" y="2560080"/>
            <a:ext cx="3886200" cy="201168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cols_obligatorias = [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'latitud', 'longitud',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'latitud_centro', 'longitud_centro',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'distancia_centro_km']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db = db.dropna(subset=cols_obligatorias)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nuevos_valores = {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'codigo_postal': -1,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'tipo': 'Otro',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'estrellas': 1,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'n_valoraciones': 0,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'valoracion_clientes': media,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'tamaño_habitacion': mediana}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db = db.fillna(nuevos_valores)</a:t>
            </a:r>
          </a:p>
        </p:txBody>
      </p:sp>
      <p:sp>
        <p:nvSpPr>
          <p:cNvPr id="9" name="LblRepl"/>
          <p:cNvSpPr/>
          <p:nvPr/>
        </p:nvSpPr>
        <p:spPr>
          <a:xfrm>
            <a:off x="4297200" y="868680"/>
            <a:ext cx="4572000" cy="27432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✅  Reemplazo de nulos (fillna)</a:t>
            </a:r>
          </a:p>
        </p:txBody>
      </p:sp>
      <p:sp>
        <p:nvSpPr>
          <p:cNvPr id="10" name="TblHdr"/>
          <p:cNvSpPr/>
          <p:nvPr/>
        </p:nvSpPr>
        <p:spPr>
          <a:xfrm>
            <a:off x="4297200" y="1143000"/>
            <a:ext cx="4572000" cy="27432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Variable                Valor imputado       Justificación</a:t>
            </a:r>
          </a:p>
        </p:txBody>
      </p:sp>
      <p:sp>
        <p:nvSpPr>
          <p:cNvPr id="20" name="Row0"/>
          <p:cNvSpPr/>
          <p:nvPr/>
        </p:nvSpPr>
        <p:spPr>
          <a:xfrm>
            <a:off x="4297200" y="1417320"/>
            <a:ext cx="4572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codigo_postal</a:t>
            </a:r>
            <a:r>
              <a:rPr lang="es-ES" sz="820" b="1" dirty="0">
                <a:solidFill>
                  <a:srgbClr val="D4A843"/>
                </a:solidFill>
                <a:latin typeface="Consolas" pitchFamily="34" charset="0"/>
              </a:rPr>
              <a:t>  -1  </a:t>
            </a: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Valor desconocido, no se usa en modelo</a:t>
            </a:r>
          </a:p>
        </p:txBody>
      </p:sp>
      <p:sp>
        <p:nvSpPr>
          <p:cNvPr id="21" name="Row1"/>
          <p:cNvSpPr/>
          <p:nvPr/>
        </p:nvSpPr>
        <p:spPr>
          <a:xfrm>
            <a:off x="4297200" y="1645920"/>
            <a:ext cx="4572000" cy="228600"/>
          </a:xfrm>
          <a:prstGeom prst="rect">
            <a:avLst/>
          </a:prstGeom>
          <a:solidFill>
            <a:srgbClr val="E8F1FA"/>
          </a:solidFill>
          <a:ln>
            <a:solidFill>
              <a:srgbClr val="CBD5E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tipo</a:t>
            </a:r>
            <a:r>
              <a:rPr lang="es-ES" sz="820" b="1" dirty="0">
                <a:solidFill>
                  <a:srgbClr val="D4A843"/>
                </a:solidFill>
                <a:latin typeface="Consolas" pitchFamily="34" charset="0"/>
              </a:rPr>
              <a:t>  'Otro'  </a:t>
            </a: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Sin tipo definido → categoría residual</a:t>
            </a:r>
          </a:p>
        </p:txBody>
      </p:sp>
      <p:sp>
        <p:nvSpPr>
          <p:cNvPr id="22" name="Row2"/>
          <p:cNvSpPr/>
          <p:nvPr/>
        </p:nvSpPr>
        <p:spPr>
          <a:xfrm>
            <a:off x="4297200" y="1874520"/>
            <a:ext cx="4572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estrellas</a:t>
            </a:r>
            <a:r>
              <a:rPr lang="es-ES" sz="820" b="1" dirty="0">
                <a:solidFill>
                  <a:srgbClr val="D4A843"/>
                </a:solidFill>
                <a:latin typeface="Consolas" pitchFamily="34" charset="0"/>
              </a:rPr>
              <a:t>  1  </a:t>
            </a: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Sin clasificación → mínimo (no hotel)</a:t>
            </a:r>
          </a:p>
        </p:txBody>
      </p:sp>
      <p:sp>
        <p:nvSpPr>
          <p:cNvPr id="23" name="Row3"/>
          <p:cNvSpPr/>
          <p:nvPr/>
        </p:nvSpPr>
        <p:spPr>
          <a:xfrm>
            <a:off x="4297200" y="2103120"/>
            <a:ext cx="4572000" cy="228600"/>
          </a:xfrm>
          <a:prstGeom prst="rect">
            <a:avLst/>
          </a:prstGeom>
          <a:solidFill>
            <a:srgbClr val="E8F1FA"/>
          </a:solidFill>
          <a:ln>
            <a:solidFill>
              <a:srgbClr val="CBD5E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n_valoraciones</a:t>
            </a:r>
            <a:r>
              <a:rPr lang="es-ES" sz="820" b="1" dirty="0">
                <a:solidFill>
                  <a:srgbClr val="D4A843"/>
                </a:solidFill>
                <a:latin typeface="Consolas" pitchFamily="34" charset="0"/>
              </a:rPr>
              <a:t>  0  </a:t>
            </a: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Sin reseñas todavía → nuevo alojamiento</a:t>
            </a:r>
          </a:p>
        </p:txBody>
      </p:sp>
      <p:sp>
        <p:nvSpPr>
          <p:cNvPr id="24" name="Row4"/>
          <p:cNvSpPr/>
          <p:nvPr/>
        </p:nvSpPr>
        <p:spPr>
          <a:xfrm>
            <a:off x="4297200" y="2331720"/>
            <a:ext cx="4572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valoracion_clientes</a:t>
            </a:r>
            <a:r>
              <a:rPr lang="es-ES" sz="820" b="1" dirty="0">
                <a:solidFill>
                  <a:srgbClr val="D4A843"/>
                </a:solidFill>
                <a:latin typeface="Consolas" pitchFamily="34" charset="0"/>
              </a:rPr>
              <a:t>  media  </a:t>
            </a: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Evita sesgo hacia extremos; robusta ante outliers</a:t>
            </a:r>
          </a:p>
        </p:txBody>
      </p:sp>
      <p:sp>
        <p:nvSpPr>
          <p:cNvPr id="25" name="Row5"/>
          <p:cNvSpPr/>
          <p:nvPr/>
        </p:nvSpPr>
        <p:spPr>
          <a:xfrm>
            <a:off x="4297200" y="2560320"/>
            <a:ext cx="4572000" cy="228600"/>
          </a:xfrm>
          <a:prstGeom prst="rect">
            <a:avLst/>
          </a:prstGeom>
          <a:solidFill>
            <a:srgbClr val="E8F1FA"/>
          </a:solidFill>
          <a:ln>
            <a:solidFill>
              <a:srgbClr val="CBD5E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tamaño_habitacion</a:t>
            </a:r>
            <a:r>
              <a:rPr lang="es-ES" sz="820" b="1" dirty="0">
                <a:solidFill>
                  <a:srgbClr val="D4A843"/>
                </a:solidFill>
                <a:latin typeface="Consolas" pitchFamily="34" charset="0"/>
              </a:rPr>
              <a:t>  mediana  </a:t>
            </a: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Más robusta que la media ante suites con m² extremos</a:t>
            </a:r>
          </a:p>
        </p:txBody>
      </p:sp>
      <p:sp>
        <p:nvSpPr>
          <p:cNvPr id="30" name="Insight"/>
          <p:cNvSpPr/>
          <p:nvPr/>
        </p:nvSpPr>
        <p:spPr>
          <a:xfrm>
            <a:off x="4297200" y="2743200"/>
            <a:ext cx="4572000" cy="68580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114300" tIns="91440" rIns="114300" bIns="9144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💡  Criterio general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F4F8FC"/>
                </a:solidFill>
                <a:latin typeface="Calibri" pitchFamily="34" charset="0"/>
              </a:rPr>
              <a:t>Eliminar cuando la variable es crítica e irrecuperable. Imputar con estadístico robusto cuando la pérdida penalizaría al modelo.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5946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CBD5E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Preprocesamiento · Análisis (Gestión de </a:t>
            </a:r>
            <a:r>
              <a:rPr lang="es-ES" sz="2400" b="1" dirty="0" err="1">
                <a:solidFill>
                  <a:srgbClr val="FFFFFF"/>
                </a:solidFill>
                <a:latin typeface="Calibri" pitchFamily="34" charset="0"/>
              </a:rPr>
              <a:t>Outliers</a:t>
            </a: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)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alibri" pitchFamily="34" charset="0"/>
              </a:rPr>
              <a:t>Criterio Tukey (IQR) · Cleaning/post_analisis.py · transformar_post_analisis()</a:t>
            </a:r>
          </a:p>
        </p:txBody>
      </p:sp>
      <p:sp>
        <p:nvSpPr>
          <p:cNvPr id="5" name="LblPrecio"/>
          <p:cNvSpPr/>
          <p:nvPr/>
        </p:nvSpPr>
        <p:spPr>
          <a:xfrm>
            <a:off x="182880" y="868680"/>
            <a:ext cx="2743200" cy="22860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💰  precio</a:t>
            </a:r>
          </a:p>
        </p:txBody>
      </p:sp>
      <p:pic>
        <p:nvPicPr>
          <p:cNvPr id="6" name="BoxplotPrec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2743200" cy="1828800"/>
          </a:xfrm>
          <a:prstGeom prst="rect">
            <a:avLst/>
          </a:prstGeom>
          <a:noFill/>
          <a:ln/>
        </p:spPr>
      </p:pic>
      <p:sp>
        <p:nvSpPr>
          <p:cNvPr id="7" name="DecPrecio"/>
          <p:cNvSpPr/>
          <p:nvPr/>
        </p:nvSpPr>
        <p:spPr>
          <a:xfrm>
            <a:off x="182880" y="2972880"/>
            <a:ext cx="2743200" cy="1371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80" b="1" dirty="0">
                <a:solidFill>
                  <a:srgbClr val="D4A843"/>
                </a:solidFill>
                <a:latin typeface="Calibri" pitchFamily="34" charset="0"/>
              </a:rPr>
              <a:t>📋 Decisión: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F4F8FC"/>
                </a:solidFill>
                <a:latin typeface="Calibri" pitchFamily="34" charset="0"/>
              </a:rPr>
              <a:t>Registros +500€/noche, raramente van a ser chollos, además distorsionarían el modelo al introducir rangos de precio tan elevados.</a:t>
            </a:r>
          </a:p>
          <a:p>
            <a:pPr marL="0" indent="0">
              <a:buNone/>
            </a:pPr>
            <a:r>
              <a:rPr lang="es-ES" sz="84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40" b="1" dirty="0">
                <a:solidFill>
                  <a:srgbClr val="DC2626"/>
                </a:solidFill>
                <a:latin typeface="Calibri" pitchFamily="34" charset="0"/>
              </a:rPr>
              <a:t>❌ Umbral Tukey: precio &lt; 468€</a:t>
            </a:r>
            <a:endParaRPr lang="es-ES" sz="840" b="1" dirty="0">
              <a:solidFill>
                <a:srgbClr val="16A34A"/>
              </a:solidFill>
              <a:latin typeface="Calibri" pitchFamily="34" charset="0"/>
            </a:endParaRPr>
          </a:p>
        </p:txBody>
      </p:sp>
      <p:sp>
        <p:nvSpPr>
          <p:cNvPr id="8" name="LblTam"/>
          <p:cNvSpPr/>
          <p:nvPr/>
        </p:nvSpPr>
        <p:spPr>
          <a:xfrm>
            <a:off x="3108480" y="868680"/>
            <a:ext cx="2743200" cy="22860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🏠  tamaño_habitacion</a:t>
            </a:r>
          </a:p>
        </p:txBody>
      </p:sp>
      <p:pic>
        <p:nvPicPr>
          <p:cNvPr id="9" name="BoxplotT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480" y="1097280"/>
            <a:ext cx="2743200" cy="1828800"/>
          </a:xfrm>
          <a:prstGeom prst="rect">
            <a:avLst/>
          </a:prstGeom>
          <a:noFill/>
          <a:ln/>
        </p:spPr>
      </p:pic>
      <p:sp>
        <p:nvSpPr>
          <p:cNvPr id="10" name="DecTam"/>
          <p:cNvSpPr/>
          <p:nvPr/>
        </p:nvSpPr>
        <p:spPr>
          <a:xfrm>
            <a:off x="3108480" y="2972880"/>
            <a:ext cx="2743200" cy="1371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80" b="1" dirty="0">
                <a:solidFill>
                  <a:srgbClr val="D4A843"/>
                </a:solidFill>
                <a:latin typeface="Calibri" pitchFamily="34" charset="0"/>
              </a:rPr>
              <a:t>📋 Decisión: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F4F8FC"/>
                </a:solidFill>
                <a:latin typeface="Calibri" pitchFamily="34" charset="0"/>
              </a:rPr>
              <a:t>Valores &gt; 500 m² son fincas/villas, fuera del objeto de estudio. Hoteles = 8% del dataset.</a:t>
            </a:r>
          </a:p>
          <a:p>
            <a:pPr marL="0" indent="0">
              <a:buNone/>
            </a:pPr>
            <a:r>
              <a:rPr lang="es-ES" sz="84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40" b="1" dirty="0">
                <a:solidFill>
                  <a:srgbClr val="DC2626"/>
                </a:solidFill>
                <a:latin typeface="Calibri" pitchFamily="34" charset="0"/>
              </a:rPr>
              <a:t>❌ Umbral fijo: </a:t>
            </a:r>
            <a:r>
              <a:rPr lang="es-ES" sz="840" b="1" dirty="0" err="1">
                <a:solidFill>
                  <a:srgbClr val="DC2626"/>
                </a:solidFill>
                <a:latin typeface="Calibri" pitchFamily="34" charset="0"/>
              </a:rPr>
              <a:t>tamaño_habitacion</a:t>
            </a:r>
            <a:r>
              <a:rPr lang="es-ES" sz="840" b="1" dirty="0">
                <a:solidFill>
                  <a:srgbClr val="DC2626"/>
                </a:solidFill>
                <a:latin typeface="Calibri" pitchFamily="34" charset="0"/>
              </a:rPr>
              <a:t> &lt; 500 m².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CBD5E1"/>
                </a:solidFill>
                <a:latin typeface="Calibri" pitchFamily="34" charset="0"/>
              </a:rPr>
              <a:t>Superior al umbral Tukey para no perder casas rurales legítimas.</a:t>
            </a:r>
          </a:p>
        </p:txBody>
      </p:sp>
      <p:sp>
        <p:nvSpPr>
          <p:cNvPr id="11" name="LblDist"/>
          <p:cNvSpPr/>
          <p:nvPr/>
        </p:nvSpPr>
        <p:spPr>
          <a:xfrm>
            <a:off x="6034080" y="868680"/>
            <a:ext cx="2972880" cy="22860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📍  distancia_centro_km</a:t>
            </a:r>
          </a:p>
        </p:txBody>
      </p:sp>
      <p:sp>
        <p:nvSpPr>
          <p:cNvPr id="12" name="LblD1"/>
          <p:cNvSpPr/>
          <p:nvPr/>
        </p:nvSpPr>
        <p:spPr>
          <a:xfrm>
            <a:off x="6034080" y="1097280"/>
            <a:ext cx="1371600" cy="182880"/>
          </a:xfrm>
          <a:prstGeom prst="rect">
            <a:avLst/>
          </a:prstGeom>
          <a:solidFill>
            <a:srgbClr val="5C1A1A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FFFFFF"/>
                </a:solidFill>
                <a:latin typeface="Calibri" pitchFamily="34" charset="0"/>
              </a:rPr>
              <a:t>Con outlier extremo</a:t>
            </a:r>
          </a:p>
        </p:txBody>
      </p:sp>
      <p:pic>
        <p:nvPicPr>
          <p:cNvPr id="13" name="BoxplotDist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080" y="1280160"/>
            <a:ext cx="1371600" cy="822960"/>
          </a:xfrm>
          <a:prstGeom prst="rect">
            <a:avLst/>
          </a:prstGeom>
          <a:noFill/>
          <a:ln/>
        </p:spPr>
      </p:pic>
      <p:sp>
        <p:nvSpPr>
          <p:cNvPr id="14" name="LblD2"/>
          <p:cNvSpPr/>
          <p:nvPr/>
        </p:nvSpPr>
        <p:spPr>
          <a:xfrm>
            <a:off x="7635480" y="1097280"/>
            <a:ext cx="1371600" cy="18288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FFFFFF"/>
                </a:solidFill>
                <a:latin typeface="Calibri" pitchFamily="34" charset="0"/>
              </a:rPr>
              <a:t>Sin outlier extremo</a:t>
            </a:r>
          </a:p>
        </p:txBody>
      </p:sp>
      <p:pic>
        <p:nvPicPr>
          <p:cNvPr id="15" name="BoxplotDist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480" y="1280160"/>
            <a:ext cx="1371600" cy="822960"/>
          </a:xfrm>
          <a:prstGeom prst="rect">
            <a:avLst/>
          </a:prstGeom>
          <a:noFill/>
          <a:ln/>
        </p:spPr>
      </p:pic>
      <p:sp>
        <p:nvSpPr>
          <p:cNvPr id="16" name="DecDist"/>
          <p:cNvSpPr/>
          <p:nvPr/>
        </p:nvSpPr>
        <p:spPr>
          <a:xfrm>
            <a:off x="6034080" y="2103120"/>
            <a:ext cx="2972880" cy="224028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80" b="1" dirty="0">
                <a:solidFill>
                  <a:srgbClr val="D4A843"/>
                </a:solidFill>
                <a:latin typeface="Calibri" pitchFamily="34" charset="0"/>
              </a:rPr>
              <a:t>📋 Decisión (2 pasos):</a:t>
            </a:r>
          </a:p>
          <a:p>
            <a:pPr marL="0" indent="0">
              <a:buNone/>
            </a:pPr>
            <a:r>
              <a:rPr lang="es-ES" sz="840" b="1" dirty="0">
                <a:solidFill>
                  <a:srgbClr val="DC2626"/>
                </a:solidFill>
                <a:latin typeface="Calibri" pitchFamily="34" charset="0"/>
              </a:rPr>
              <a:t>❌ 1. Eliminar &gt; 15.000 km: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CBD5E1"/>
                </a:solidFill>
                <a:latin typeface="Calibri" pitchFamily="34" charset="0"/>
              </a:rPr>
              <a:t>Error GPS: alojamiento geocodificado en Islas Salomón , con dirección manual de Guadalcanal, España.</a:t>
            </a:r>
          </a:p>
          <a:p>
            <a:pPr marL="0" indent="0">
              <a:buNone/>
            </a:pPr>
            <a:r>
              <a:rPr lang="es-ES" sz="84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40" b="1" dirty="0">
                <a:solidFill>
                  <a:srgbClr val="DC2626"/>
                </a:solidFill>
                <a:latin typeface="Calibri" pitchFamily="34" charset="0"/>
              </a:rPr>
              <a:t>❌ 2. Umbral definitivo ≤ 15 km: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CBD5E1"/>
                </a:solidFill>
                <a:latin typeface="Calibri" pitchFamily="34" charset="0"/>
              </a:rPr>
              <a:t>Alojamiento a &gt;15 km del centro → probable error de geocodificación o finca rural fuera del objeto de estudio.</a:t>
            </a:r>
          </a:p>
          <a:p>
            <a:pPr marL="0" indent="0">
              <a:buNone/>
            </a:pPr>
            <a:r>
              <a:rPr lang="es-ES" sz="84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20" b="1" dirty="0">
                <a:solidFill>
                  <a:srgbClr val="F0C060"/>
                </a:solidFill>
                <a:latin typeface="Consolas" pitchFamily="34" charset="0"/>
              </a:rPr>
              <a:t># Cleaning/post_analisis.py → transformar_post_analisis()
df = df[df['distancia_centro_km'] &lt;= 15]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4A6080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5946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4A608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Gold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Preprocesamiento · Encoding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onsolas" pitchFamily="34" charset="0"/>
              </a:rPr>
              <a:t>Cleaning/encoding.py  →  encoding()  ·  genera db_final_codificada.parquet</a:t>
            </a:r>
          </a:p>
        </p:txBody>
      </p:sp>
      <p:sp>
        <p:nvSpPr>
          <p:cNvPr id="6" name="Lbl1"/>
          <p:cNvSpPr/>
          <p:nvPr/>
        </p:nvSpPr>
        <p:spPr>
          <a:xfrm>
            <a:off x="274320" y="948960"/>
            <a:ext cx="4115880" cy="22860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🗑️  1. Eliminación de columnas no predictivas</a:t>
            </a:r>
          </a:p>
        </p:txBody>
      </p:sp>
      <p:sp>
        <p:nvSpPr>
          <p:cNvPr id="7" name="Card1"/>
          <p:cNvSpPr/>
          <p:nvPr/>
        </p:nvSpPr>
        <p:spPr>
          <a:xfrm>
            <a:off x="274320" y="1177559"/>
            <a:ext cx="4115880" cy="618127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Se eliminan variables identificativas que no aportan valor predictivo al modelo:</a:t>
            </a:r>
          </a:p>
          <a:p>
            <a:pPr marL="0" indent="0">
              <a:buNone/>
            </a:pPr>
            <a:endParaRPr lang="es-ES" sz="800" dirty="0">
              <a:latin typeface="Calibri" pitchFamily="34" charset="0"/>
            </a:endParaRP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db_final.drop(columns=['titulo', 'codigo_postal',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                       'url_estancia', 'fecha_extraccion'])</a:t>
            </a:r>
          </a:p>
        </p:txBody>
      </p:sp>
      <p:sp>
        <p:nvSpPr>
          <p:cNvPr id="8" name="Lbl2"/>
          <p:cNvSpPr/>
          <p:nvPr/>
        </p:nvSpPr>
        <p:spPr>
          <a:xfrm>
            <a:off x="273360" y="1792261"/>
            <a:ext cx="4115880" cy="22860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🧩  2. One-Hot Encoding  —  tipo</a:t>
            </a:r>
          </a:p>
        </p:txBody>
      </p:sp>
      <p:sp>
        <p:nvSpPr>
          <p:cNvPr id="9" name="Card2"/>
          <p:cNvSpPr/>
          <p:nvPr/>
        </p:nvSpPr>
        <p:spPr>
          <a:xfrm>
            <a:off x="273360" y="2020860"/>
            <a:ext cx="4115880" cy="756899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Crea columna binaria </a:t>
            </a:r>
            <a:r>
              <a:rPr lang="es-ES" sz="800" b="1" dirty="0">
                <a:solidFill>
                  <a:srgbClr val="1A2E4A"/>
                </a:solidFill>
                <a:latin typeface="Consolas" pitchFamily="34" charset="0"/>
              </a:rPr>
              <a:t>tipo_Otro</a:t>
            </a: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 (0=Hotel, 1=Otro). 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1A2E4A"/>
                </a:solidFill>
                <a:latin typeface="Consolas" pitchFamily="34" charset="0"/>
              </a:rPr>
              <a:t>drop_first=True</a:t>
            </a: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 elimina </a:t>
            </a:r>
            <a:r>
              <a:rPr lang="es-ES" sz="800" b="1" dirty="0">
                <a:solidFill>
                  <a:srgbClr val="1A2E4A"/>
                </a:solidFill>
                <a:latin typeface="Consolas" pitchFamily="34" charset="0"/>
              </a:rPr>
              <a:t>tipo_Hotel</a:t>
            </a: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 por redundancia (colinealidad perfecta).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 = pd.get_dummies(db, columns=['tipo'],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                   drop_first=True)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64748B"/>
                </a:solidFill>
                <a:latin typeface="Calibri" pitchFamily="34" charset="0"/>
              </a:rPr>
              <a:t>⚠️  Por qué no OHE en localidad/provincia: demasiadas categorías → alta dimensionalidad.</a:t>
            </a:r>
          </a:p>
        </p:txBody>
      </p:sp>
      <p:sp>
        <p:nvSpPr>
          <p:cNvPr id="10" name="Lbl3"/>
          <p:cNvSpPr/>
          <p:nvPr/>
        </p:nvSpPr>
        <p:spPr>
          <a:xfrm>
            <a:off x="274320" y="2773128"/>
            <a:ext cx="4115880" cy="228600"/>
          </a:xfrm>
          <a:prstGeom prst="rect">
            <a:avLst/>
          </a:prstGeom>
          <a:solidFill>
            <a:srgbClr val="4A1A6B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🏷️  3. Label Encoding  —  localidad + provincia</a:t>
            </a:r>
          </a:p>
        </p:txBody>
      </p:sp>
      <p:sp>
        <p:nvSpPr>
          <p:cNvPr id="11" name="Card3"/>
          <p:cNvSpPr/>
          <p:nvPr/>
        </p:nvSpPr>
        <p:spPr>
          <a:xfrm>
            <a:off x="274320" y="3001728"/>
            <a:ext cx="4115880" cy="88843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Asigna un entero único a cada categoría. </a:t>
            </a:r>
          </a:p>
          <a:p>
            <a:pPr marL="0" indent="0">
              <a:buNone/>
            </a:pPr>
            <a:endParaRPr lang="es-ES" sz="800" dirty="0">
              <a:solidFill>
                <a:srgbClr val="1E293B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ES" sz="800" dirty="0" err="1">
                <a:solidFill>
                  <a:srgbClr val="1A2E4A"/>
                </a:solidFill>
                <a:latin typeface="Consolas" pitchFamily="34" charset="0"/>
              </a:rPr>
              <a:t>le_localidad</a:t>
            </a: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 = LabelEncoder()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le_provincia = LabelEncoder()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db['localidad'] = le_localidad.fit_transform(db['localidad'])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db['provincia'] = le_provincia.fit_transform(db['provincia'])</a:t>
            </a:r>
          </a:p>
        </p:txBody>
      </p:sp>
      <p:sp>
        <p:nvSpPr>
          <p:cNvPr id="12" name="Lbl4"/>
          <p:cNvSpPr/>
          <p:nvPr/>
        </p:nvSpPr>
        <p:spPr>
          <a:xfrm>
            <a:off x="273360" y="3890166"/>
            <a:ext cx="4115880" cy="228600"/>
          </a:xfrm>
          <a:prstGeom prst="rect">
            <a:avLst/>
          </a:prstGeom>
          <a:solidFill>
            <a:srgbClr val="7B341E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📅  4. Descomposición de fecha_disponible</a:t>
            </a:r>
          </a:p>
        </p:txBody>
      </p:sp>
      <p:sp>
        <p:nvSpPr>
          <p:cNvPr id="13" name="Card4"/>
          <p:cNvSpPr/>
          <p:nvPr/>
        </p:nvSpPr>
        <p:spPr>
          <a:xfrm>
            <a:off x="273360" y="4118766"/>
            <a:ext cx="4115880" cy="70775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Extrae mes y día como variables numéricas y luego elimina la columna original.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db['mes_disponible'] = db['fecha_disponible'].dt.month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db['dia_disponible'] = db['fecha_disponible'].dt.day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 = db.drop(columns=['fecha_disponible'])</a:t>
            </a:r>
          </a:p>
        </p:txBody>
      </p:sp>
      <p:sp>
        <p:nvSpPr>
          <p:cNvPr id="14" name="LblTbl"/>
          <p:cNvSpPr/>
          <p:nvPr/>
        </p:nvSpPr>
        <p:spPr>
          <a:xfrm>
            <a:off x="4572000" y="948960"/>
            <a:ext cx="4298640" cy="22860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🔀  Variables: antes → después del encoding</a:t>
            </a:r>
          </a:p>
        </p:txBody>
      </p:sp>
      <p:sp>
        <p:nvSpPr>
          <p:cNvPr id="15" name="TblHdr"/>
          <p:cNvSpPr/>
          <p:nvPr/>
        </p:nvSpPr>
        <p:spPr>
          <a:xfrm>
            <a:off x="4572000" y="1177560"/>
            <a:ext cx="4298640" cy="27432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80" b="1" dirty="0">
                <a:solidFill>
                  <a:srgbClr val="D4A843"/>
                </a:solidFill>
                <a:latin typeface="Calibri" pitchFamily="34" charset="0"/>
              </a:rPr>
              <a:t>Variable original</a:t>
            </a: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   →   </a:t>
            </a:r>
            <a:r>
              <a:rPr lang="es-ES" sz="880" b="1" dirty="0">
                <a:solidFill>
                  <a:srgbClr val="D4A843"/>
                </a:solidFill>
                <a:latin typeface="Calibri" pitchFamily="34" charset="0"/>
              </a:rPr>
              <a:t>Resultado    [Técnica]</a:t>
            </a:r>
          </a:p>
        </p:txBody>
      </p:sp>
      <p:sp>
        <p:nvSpPr>
          <p:cNvPr id="20" name="Row0"/>
          <p:cNvSpPr/>
          <p:nvPr/>
        </p:nvSpPr>
        <p:spPr>
          <a:xfrm>
            <a:off x="4572000" y="145188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91440" tIns="30480" rIns="91440" bIns="3048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titulo, codigo_postal,
url_estancia, fecha_extraccion</a:t>
            </a: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  → </a:t>
            </a:r>
            <a:r>
              <a:rPr lang="es-ES" sz="800" b="1" dirty="0">
                <a:solidFill>
                  <a:srgbClr val="5C1A1A"/>
                </a:solidFill>
                <a:latin typeface="Calibri" pitchFamily="34" charset="0"/>
              </a:rPr>
              <a:t>  eliminadas</a:t>
            </a:r>
            <a:r>
              <a:rPr lang="es-ES" sz="780" dirty="0">
                <a:solidFill>
                  <a:srgbClr val="64748B"/>
                </a:solidFill>
                <a:latin typeface="Calibri" pitchFamily="34" charset="0"/>
              </a:rPr>
              <a:t>   [Drop]</a:t>
            </a:r>
          </a:p>
        </p:txBody>
      </p:sp>
      <p:sp>
        <p:nvSpPr>
          <p:cNvPr id="21" name="Row1"/>
          <p:cNvSpPr/>
          <p:nvPr/>
        </p:nvSpPr>
        <p:spPr>
          <a:xfrm>
            <a:off x="4572000" y="1954800"/>
            <a:ext cx="4298640" cy="274320"/>
          </a:xfrm>
          <a:prstGeom prst="rect">
            <a:avLst/>
          </a:prstGeom>
          <a:solidFill>
            <a:srgbClr val="E8F1FA"/>
          </a:solidFill>
          <a:ln>
            <a:solidFill>
              <a:srgbClr val="CBD5E1"/>
            </a:solidFill>
          </a:ln>
        </p:spPr>
        <p:txBody>
          <a:bodyPr wrap="square" lIns="91440" tIns="30480" rIns="91440" bIns="3048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tipo  (Hotel / Otro)</a:t>
            </a: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  → </a:t>
            </a:r>
            <a:r>
              <a:rPr lang="es-ES" sz="800" b="1" dirty="0">
                <a:solidFill>
                  <a:srgbClr val="1B5E20"/>
                </a:solidFill>
                <a:latin typeface="Calibri" pitchFamily="34" charset="0"/>
              </a:rPr>
              <a:t>  tipo_Otro  (0/1)</a:t>
            </a:r>
            <a:r>
              <a:rPr lang="es-ES" sz="780" dirty="0">
                <a:solidFill>
                  <a:srgbClr val="64748B"/>
                </a:solidFill>
                <a:latin typeface="Calibri" pitchFamily="34" charset="0"/>
              </a:rPr>
              <a:t>   [OHE]</a:t>
            </a:r>
          </a:p>
        </p:txBody>
      </p:sp>
      <p:sp>
        <p:nvSpPr>
          <p:cNvPr id="22" name="Row2"/>
          <p:cNvSpPr/>
          <p:nvPr/>
        </p:nvSpPr>
        <p:spPr>
          <a:xfrm>
            <a:off x="4572000" y="2229120"/>
            <a:ext cx="42986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91440" tIns="30480" rIns="91440" bIns="3048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localidad  (~500 valores)</a:t>
            </a: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  → </a:t>
            </a:r>
            <a:r>
              <a:rPr lang="es-ES" sz="800" b="1" dirty="0">
                <a:solidFill>
                  <a:srgbClr val="4A1A6B"/>
                </a:solidFill>
                <a:latin typeface="Calibri" pitchFamily="34" charset="0"/>
              </a:rPr>
              <a:t>  entero 0..N</a:t>
            </a:r>
            <a:r>
              <a:rPr lang="es-ES" sz="780" dirty="0">
                <a:solidFill>
                  <a:srgbClr val="64748B"/>
                </a:solidFill>
                <a:latin typeface="Calibri" pitchFamily="34" charset="0"/>
              </a:rPr>
              <a:t>   [Label Enc.]</a:t>
            </a:r>
          </a:p>
        </p:txBody>
      </p:sp>
      <p:sp>
        <p:nvSpPr>
          <p:cNvPr id="23" name="Row3"/>
          <p:cNvSpPr/>
          <p:nvPr/>
        </p:nvSpPr>
        <p:spPr>
          <a:xfrm>
            <a:off x="4572000" y="2503440"/>
            <a:ext cx="4298640" cy="274320"/>
          </a:xfrm>
          <a:prstGeom prst="rect">
            <a:avLst/>
          </a:prstGeom>
          <a:solidFill>
            <a:srgbClr val="E8F1FA"/>
          </a:solidFill>
          <a:ln>
            <a:solidFill>
              <a:srgbClr val="CBD5E1"/>
            </a:solidFill>
          </a:ln>
        </p:spPr>
        <p:txBody>
          <a:bodyPr wrap="square" lIns="91440" tIns="30480" rIns="91440" bIns="3048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provincia  (8 valores)</a:t>
            </a: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  → </a:t>
            </a:r>
            <a:r>
              <a:rPr lang="es-ES" sz="800" b="1" dirty="0">
                <a:solidFill>
                  <a:srgbClr val="4A1A6B"/>
                </a:solidFill>
                <a:latin typeface="Calibri" pitchFamily="34" charset="0"/>
              </a:rPr>
              <a:t>  entero 0..7</a:t>
            </a:r>
            <a:r>
              <a:rPr lang="es-ES" sz="780" dirty="0">
                <a:solidFill>
                  <a:srgbClr val="64748B"/>
                </a:solidFill>
                <a:latin typeface="Calibri" pitchFamily="34" charset="0"/>
              </a:rPr>
              <a:t>   [Label Enc.]</a:t>
            </a:r>
          </a:p>
        </p:txBody>
      </p:sp>
      <p:sp>
        <p:nvSpPr>
          <p:cNvPr id="24" name="Row4"/>
          <p:cNvSpPr/>
          <p:nvPr/>
        </p:nvSpPr>
        <p:spPr>
          <a:xfrm>
            <a:off x="4572000" y="2777760"/>
            <a:ext cx="42986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91440" tIns="30480" rIns="91440" bIns="30480" rtlCol="0" anchor="ctr"/>
          <a:lstStyle/>
          <a:p>
            <a:pPr marL="0" indent="0">
              <a:buNone/>
            </a:pPr>
            <a:r>
              <a:rPr lang="es-ES" sz="800" dirty="0" err="1">
                <a:solidFill>
                  <a:srgbClr val="1E293B"/>
                </a:solidFill>
                <a:latin typeface="Calibri" pitchFamily="34" charset="0"/>
              </a:rPr>
              <a:t>fecha_disponible</a:t>
            </a: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  →  </a:t>
            </a:r>
            <a:r>
              <a:rPr lang="es-ES" sz="800" b="1" dirty="0">
                <a:solidFill>
                  <a:srgbClr val="7B341E"/>
                </a:solidFill>
                <a:latin typeface="Calibri" pitchFamily="34" charset="0"/>
              </a:rPr>
              <a:t> mes_disponible + dia_disponible</a:t>
            </a:r>
            <a:r>
              <a:rPr lang="es-ES" sz="780" dirty="0">
                <a:solidFill>
                  <a:srgbClr val="64748B"/>
                </a:solidFill>
                <a:latin typeface="Calibri" pitchFamily="34" charset="0"/>
              </a:rPr>
              <a:t>   [Descomp.]</a:t>
            </a:r>
          </a:p>
        </p:txBody>
      </p:sp>
      <p:sp>
        <p:nvSpPr>
          <p:cNvPr id="25" name="Row5"/>
          <p:cNvSpPr/>
          <p:nvPr/>
        </p:nvSpPr>
        <p:spPr>
          <a:xfrm>
            <a:off x="4572000" y="3052080"/>
            <a:ext cx="4298640" cy="502920"/>
          </a:xfrm>
          <a:prstGeom prst="rect">
            <a:avLst/>
          </a:prstGeom>
          <a:solidFill>
            <a:srgbClr val="E8F1FA"/>
          </a:solidFill>
          <a:ln>
            <a:solidFill>
              <a:srgbClr val="CBD5E1"/>
            </a:solidFill>
          </a:ln>
        </p:spPr>
        <p:txBody>
          <a:bodyPr wrap="square" lIns="91440" tIns="30480" rIns="91440" bIns="3048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estrellas, n_valoraciones,
tamaño_habitacion, precio...</a:t>
            </a: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  →  </a:t>
            </a:r>
            <a:r>
              <a:rPr lang="es-ES" sz="800" b="1" dirty="0">
                <a:solidFill>
                  <a:srgbClr val="1A4A8C"/>
                </a:solidFill>
                <a:latin typeface="Calibri" pitchFamily="34" charset="0"/>
              </a:rPr>
              <a:t>→  ya numéricas (int8/32)</a:t>
            </a:r>
            <a:r>
              <a:rPr lang="es-ES" sz="780" dirty="0">
                <a:solidFill>
                  <a:srgbClr val="64748B"/>
                </a:solidFill>
                <a:latin typeface="Calibri" pitchFamily="34" charset="0"/>
              </a:rPr>
              <a:t>   [Nativa]</a:t>
            </a:r>
          </a:p>
        </p:txBody>
      </p:sp>
      <p:sp>
        <p:nvSpPr>
          <p:cNvPr id="30" name="LblPers"/>
          <p:cNvSpPr/>
          <p:nvPr/>
        </p:nvSpPr>
        <p:spPr>
          <a:xfrm>
            <a:off x="4572000" y="3795840"/>
            <a:ext cx="4298640" cy="22860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💾  Persistencia con joblib (reproducibilidad en producción)</a:t>
            </a:r>
          </a:p>
        </p:txBody>
      </p:sp>
      <p:sp>
        <p:nvSpPr>
          <p:cNvPr id="31" name="CardPers"/>
          <p:cNvSpPr/>
          <p:nvPr/>
        </p:nvSpPr>
        <p:spPr>
          <a:xfrm>
            <a:off x="4572000" y="4024439"/>
            <a:ext cx="4298640" cy="85463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Los encoders y la lista de columnas se guardan para replicar exactamente el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encoding en producción (app Streamlit) con los mismos índices: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joblib.dump(le_localidad,  models_dir / </a:t>
            </a:r>
            <a:r>
              <a:rPr lang="es-ES" sz="800" dirty="0">
                <a:solidFill>
                  <a:srgbClr val="D4A843"/>
                </a:solidFill>
                <a:latin typeface="Consolas" pitchFamily="34" charset="0"/>
              </a:rPr>
              <a:t>'le_localidad.pkl')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joblib.dump(le_provincia,  models_dir / </a:t>
            </a:r>
            <a:r>
              <a:rPr lang="es-ES" sz="800" dirty="0">
                <a:solidFill>
                  <a:srgbClr val="D4A843"/>
                </a:solidFill>
                <a:latin typeface="Consolas" pitchFamily="34" charset="0"/>
              </a:rPr>
              <a:t>'le_provincia.pkl')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joblib.dump(columnas_modelo, models_dir / </a:t>
            </a:r>
            <a:r>
              <a:rPr lang="es-ES" sz="800" dirty="0">
                <a:solidFill>
                  <a:srgbClr val="D4A843"/>
                </a:solidFill>
                <a:latin typeface="Consolas" pitchFamily="34" charset="0"/>
              </a:rPr>
              <a:t>'columnas_modelo.pkl')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686680" y="4879074"/>
            <a:ext cx="3657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64748B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Eficiencia del almacenamiento · RAW vs Procesado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alibri" pitchFamily="34" charset="0"/>
              </a:rPr>
              <a:t>CSV raw (por provincia)  ·  Parquet procesado (8 provincias + todas las fechas)</a:t>
            </a:r>
          </a:p>
        </p:txBody>
      </p:sp>
      <p:sp>
        <p:nvSpPr>
          <p:cNvPr id="5" name="LblRaw"/>
          <p:cNvSpPr/>
          <p:nvPr/>
        </p:nvSpPr>
        <p:spPr>
          <a:xfrm>
            <a:off x="6900864" y="809657"/>
            <a:ext cx="1882180" cy="511651"/>
          </a:xfrm>
          <a:prstGeom prst="rect">
            <a:avLst/>
          </a:prstGeom>
          <a:solidFill>
            <a:srgbClr val="5C1A1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F0C060"/>
                </a:solidFill>
                <a:latin typeface="Calibri" pitchFamily="34" charset="0"/>
              </a:rPr>
              <a:t>📄  RAW — resultados_booking_Málaga.csv  (1 provincia)</a:t>
            </a:r>
          </a:p>
        </p:txBody>
      </p:sp>
      <p:sp>
        <p:nvSpPr>
          <p:cNvPr id="6" name="RawStats"/>
          <p:cNvSpPr/>
          <p:nvPr/>
        </p:nvSpPr>
        <p:spPr>
          <a:xfrm>
            <a:off x="6902786" y="1332018"/>
            <a:ext cx="1880258" cy="492704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80" b="1" dirty="0">
                <a:solidFill>
                  <a:srgbClr val="FFFFFF"/>
                </a:solidFill>
                <a:latin typeface="Calibri" pitchFamily="34" charset="0"/>
              </a:rPr>
              <a:t>8.871 registros</a:t>
            </a: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  ·  25 columnas  ·  </a:t>
            </a:r>
            <a:r>
              <a:rPr lang="es-ES" sz="880" b="1" dirty="0">
                <a:solidFill>
                  <a:srgbClr val="F0C060"/>
                </a:solidFill>
                <a:latin typeface="Calibri" pitchFamily="34" charset="0"/>
              </a:rPr>
              <a:t>279,7 MB</a:t>
            </a: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  en disco</a:t>
            </a:r>
          </a:p>
        </p:txBody>
      </p:sp>
      <p:pic>
        <p:nvPicPr>
          <p:cNvPr id="7" name="TablaRa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0367"/>
            <a:ext cx="6716063" cy="1360440"/>
          </a:xfrm>
          <a:prstGeom prst="rect">
            <a:avLst/>
          </a:prstGeom>
          <a:noFill/>
          <a:ln/>
        </p:spPr>
      </p:pic>
      <p:sp>
        <p:nvSpPr>
          <p:cNvPr id="8" name="LblProc"/>
          <p:cNvSpPr/>
          <p:nvPr/>
        </p:nvSpPr>
        <p:spPr>
          <a:xfrm>
            <a:off x="6900864" y="2237824"/>
            <a:ext cx="1879297" cy="492704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F0C060"/>
                </a:solidFill>
                <a:latin typeface="Calibri" pitchFamily="34" charset="0"/>
              </a:rPr>
              <a:t>🧱  PROCESSED — db_final_analisis.parquet  (8 provincias)</a:t>
            </a:r>
          </a:p>
        </p:txBody>
      </p:sp>
      <p:sp>
        <p:nvSpPr>
          <p:cNvPr id="9" name="ProcStats"/>
          <p:cNvSpPr/>
          <p:nvPr/>
        </p:nvSpPr>
        <p:spPr>
          <a:xfrm>
            <a:off x="6902786" y="2723160"/>
            <a:ext cx="1880258" cy="487428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80" b="1" dirty="0">
                <a:solidFill>
                  <a:srgbClr val="FFFFFF"/>
                </a:solidFill>
                <a:latin typeface="Calibri" pitchFamily="34" charset="0"/>
              </a:rPr>
              <a:t>2.766.237 registros</a:t>
            </a: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  ·  33 columnas  ·  </a:t>
            </a:r>
            <a:r>
              <a:rPr lang="es-ES" sz="880" b="1" dirty="0">
                <a:solidFill>
                  <a:srgbClr val="16A34A"/>
                </a:solidFill>
                <a:latin typeface="Calibri" pitchFamily="34" charset="0"/>
              </a:rPr>
              <a:t>11,2 MB</a:t>
            </a: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  en disco</a:t>
            </a:r>
          </a:p>
        </p:txBody>
      </p:sp>
      <p:pic>
        <p:nvPicPr>
          <p:cNvPr id="10" name="TablaProcess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19" y="2237687"/>
            <a:ext cx="6717023" cy="1547929"/>
          </a:xfrm>
          <a:prstGeom prst="rect">
            <a:avLst/>
          </a:prstGeom>
          <a:noFill/>
          <a:ln/>
        </p:spPr>
      </p:pic>
      <p:sp>
        <p:nvSpPr>
          <p:cNvPr id="20" name="Callout0"/>
          <p:cNvSpPr/>
          <p:nvPr/>
        </p:nvSpPr>
        <p:spPr>
          <a:xfrm>
            <a:off x="184560" y="3831048"/>
            <a:ext cx="2743200" cy="426609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2000" b="1" dirty="0">
                <a:solidFill>
                  <a:srgbClr val="D4A843"/>
                </a:solidFill>
                <a:latin typeface="Calibri" pitchFamily="34" charset="0"/>
              </a:rPr>
              <a:t>x312</a:t>
            </a:r>
          </a:p>
          <a:p>
            <a:pPr marL="0" indent="0">
              <a:buNone/>
            </a:pP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más filas en el parquet</a:t>
            </a:r>
          </a:p>
        </p:txBody>
      </p:sp>
      <p:sp>
        <p:nvSpPr>
          <p:cNvPr id="21" name="Callout1"/>
          <p:cNvSpPr/>
          <p:nvPr/>
        </p:nvSpPr>
        <p:spPr>
          <a:xfrm>
            <a:off x="3109920" y="3831047"/>
            <a:ext cx="2743200" cy="426609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2000" b="1" dirty="0">
                <a:solidFill>
                  <a:srgbClr val="16A34A"/>
                </a:solidFill>
                <a:latin typeface="Calibri" pitchFamily="34" charset="0"/>
              </a:rPr>
              <a:t>x25 menos</a:t>
            </a:r>
          </a:p>
          <a:p>
            <a:pPr marL="0" indent="0">
              <a:buNone/>
            </a:pP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peso en disco</a:t>
            </a:r>
          </a:p>
        </p:txBody>
      </p:sp>
      <p:sp>
        <p:nvSpPr>
          <p:cNvPr id="22" name="Callout2"/>
          <p:cNvSpPr/>
          <p:nvPr/>
        </p:nvSpPr>
        <p:spPr>
          <a:xfrm>
            <a:off x="6128640" y="3831047"/>
            <a:ext cx="2743200" cy="428655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2000" b="1" dirty="0">
                <a:solidFill>
                  <a:srgbClr val="2A7BDE"/>
                </a:solidFill>
                <a:latin typeface="Calibri" pitchFamily="34" charset="0"/>
              </a:rPr>
              <a:t>+8 col.</a:t>
            </a:r>
          </a:p>
          <a:p>
            <a:pPr marL="0" indent="0">
              <a:buNone/>
            </a:pP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nuevas variables (features)</a:t>
            </a:r>
          </a:p>
        </p:txBody>
      </p:sp>
      <p:sp>
        <p:nvSpPr>
          <p:cNvPr id="23" name="Insight"/>
          <p:cNvSpPr/>
          <p:nvPr/>
        </p:nvSpPr>
        <p:spPr>
          <a:xfrm>
            <a:off x="184560" y="4316005"/>
            <a:ext cx="8777520" cy="514080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182880" tIns="91440" rIns="182880" bIns="9144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💡  Por qué es importante:</a:t>
            </a:r>
          </a:p>
          <a:p>
            <a:pPr marL="0" indent="0">
              <a:buNone/>
            </a:pPr>
            <a:r>
              <a:rPr lang="es-ES" sz="900" dirty="0">
                <a:solidFill>
                  <a:srgbClr val="F4F8FC"/>
                </a:solidFill>
                <a:latin typeface="Calibri" pitchFamily="34" charset="0"/>
              </a:rPr>
              <a:t>El parquet tiene 312× más filas que el CSV de Málaga (combina todas las provincias y fechas), pero pesa 25× menos. Esto ilustra la eficiencia del formato Parquet: compresión columnar, tipado óptimo (int8, float32, category) y la limpieza realizada durante el preprocesamiento.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4A6080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686800" y="4830085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4A608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Paralelización con Dask · preprocessing_dask.py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F0C060"/>
                </a:solidFill>
                <a:latin typeface="Consolas"/>
              </a:rPr>
              <a:t>Cleaning/preprocessing_dask.py  ·  </a:t>
            </a:r>
            <a:r>
              <a:rPr sz="1000" b="0" dirty="0" err="1">
                <a:solidFill>
                  <a:srgbClr val="F0C060"/>
                </a:solidFill>
                <a:latin typeface="Consolas"/>
              </a:rPr>
              <a:t>dask.distributed</a:t>
            </a:r>
            <a:r>
              <a:rPr sz="1000" b="0" dirty="0">
                <a:solidFill>
                  <a:srgbClr val="F0C060"/>
                </a:solidFill>
                <a:latin typeface="Consolas"/>
              </a:rPr>
              <a:t> Client  ·  benchmark </a:t>
            </a:r>
            <a:r>
              <a:rPr sz="1000" b="0" dirty="0" err="1">
                <a:solidFill>
                  <a:srgbClr val="F0C060"/>
                </a:solidFill>
                <a:latin typeface="Consolas"/>
              </a:rPr>
              <a:t>secuencial</a:t>
            </a:r>
            <a:r>
              <a:rPr sz="1000" b="0" dirty="0">
                <a:solidFill>
                  <a:srgbClr val="F0C060"/>
                </a:solidFill>
                <a:latin typeface="Consolas"/>
              </a:rPr>
              <a:t> vs </a:t>
            </a:r>
            <a:r>
              <a:rPr sz="1000" b="0" dirty="0" err="1">
                <a:solidFill>
                  <a:srgbClr val="F0C060"/>
                </a:solidFill>
                <a:latin typeface="Consolas"/>
              </a:rPr>
              <a:t>paralelo</a:t>
            </a:r>
            <a:endParaRPr sz="1000" b="0" dirty="0">
              <a:solidFill>
                <a:srgbClr val="F0C060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329" y="1042415"/>
            <a:ext cx="4903473" cy="219456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9163" y="1097786"/>
            <a:ext cx="4822779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dirty="0">
                <a:solidFill>
                  <a:srgbClr val="F0C060"/>
                </a:solidFill>
                <a:latin typeface="Consolas"/>
              </a:rPr>
              <a:t>Dashboard </a:t>
            </a:r>
            <a:r>
              <a:rPr sz="900" b="1" dirty="0" err="1">
                <a:solidFill>
                  <a:srgbClr val="F0C060"/>
                </a:solidFill>
                <a:latin typeface="Consolas"/>
              </a:rPr>
              <a:t>Dask</a:t>
            </a:r>
            <a:r>
              <a:rPr sz="900" b="1" dirty="0">
                <a:solidFill>
                  <a:srgbClr val="F0C060"/>
                </a:solidFill>
                <a:latin typeface="Consolas"/>
              </a:rPr>
              <a:t> — localhost:8787</a:t>
            </a:r>
          </a:p>
        </p:txBody>
      </p:sp>
      <p:pic>
        <p:nvPicPr>
          <p:cNvPr id="7" name="Picture 6" descr="Dask_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9" y="1298448"/>
            <a:ext cx="4903473" cy="276485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191582"/>
            <a:ext cx="4114800" cy="634621"/>
          </a:xfrm>
          <a:prstGeom prst="rect">
            <a:avLst/>
          </a:prstGeom>
          <a:solidFill>
            <a:srgbClr val="1E3A5F"/>
          </a:solidFill>
          <a:ln w="9525">
            <a:solidFill>
              <a:srgbClr val="2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4260717"/>
            <a:ext cx="389534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dirty="0">
                <a:solidFill>
                  <a:srgbClr val="F0C060"/>
                </a:solidFill>
                <a:latin typeface="Calibri"/>
              </a:rPr>
              <a:t>Task Stream  </a:t>
            </a:r>
            <a:r>
              <a:rPr sz="900" b="0" dirty="0">
                <a:solidFill>
                  <a:srgbClr val="CBD5E1"/>
                </a:solidFill>
                <a:latin typeface="Calibri"/>
              </a:rPr>
              <a:t>· </a:t>
            </a:r>
            <a:r>
              <a:rPr sz="900" b="0" dirty="0" err="1">
                <a:solidFill>
                  <a:srgbClr val="CBD5E1"/>
                </a:solidFill>
                <a:latin typeface="Calibri"/>
              </a:rPr>
              <a:t>cada</a:t>
            </a:r>
            <a:r>
              <a:rPr sz="900" b="0" dirty="0">
                <a:solidFill>
                  <a:srgbClr val="CBD5E1"/>
                </a:solidFill>
                <a:latin typeface="Calibri"/>
              </a:rPr>
              <a:t> fila es un worker</a:t>
            </a:r>
          </a:p>
          <a:p>
            <a:pPr algn="l">
              <a:lnSpc>
                <a:spcPct val="115000"/>
              </a:lnSpc>
            </a:pPr>
            <a:r>
              <a:rPr sz="900" b="0" dirty="0">
                <a:solidFill>
                  <a:srgbClr val="E2E8F0"/>
                </a:solidFill>
                <a:latin typeface="Calibri"/>
              </a:rPr>
              <a:t>4 workers </a:t>
            </a:r>
            <a:r>
              <a:rPr sz="900" b="0" dirty="0" err="1">
                <a:solidFill>
                  <a:srgbClr val="E2E8F0"/>
                </a:solidFill>
                <a:latin typeface="Calibri"/>
              </a:rPr>
              <a:t>ejecutan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 </a:t>
            </a:r>
            <a:r>
              <a:rPr sz="900" b="1" dirty="0" err="1">
                <a:solidFill>
                  <a:srgbClr val="F0C060"/>
                </a:solidFill>
                <a:latin typeface="Consolas"/>
              </a:rPr>
              <a:t>procesar_provincia</a:t>
            </a:r>
            <a:r>
              <a:rPr sz="900" b="1" dirty="0">
                <a:solidFill>
                  <a:srgbClr val="F0C060"/>
                </a:solidFill>
                <a:latin typeface="Consolas"/>
              </a:rPr>
              <a:t>()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E2E8F0"/>
                </a:solidFill>
                <a:latin typeface="Calibri"/>
              </a:rPr>
              <a:t>en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E2E8F0"/>
                </a:solidFill>
                <a:latin typeface="Calibri"/>
              </a:rPr>
              <a:t>paralelo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E2E8F0"/>
                </a:solidFill>
                <a:latin typeface="Calibri"/>
              </a:rPr>
              <a:t>vía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 </a:t>
            </a:r>
            <a:r>
              <a:rPr sz="900" b="1" dirty="0" err="1">
                <a:solidFill>
                  <a:srgbClr val="F0C060"/>
                </a:solidFill>
                <a:latin typeface="Consolas"/>
              </a:rPr>
              <a:t>client.submit</a:t>
            </a:r>
            <a:r>
              <a:rPr sz="900" b="1" dirty="0">
                <a:solidFill>
                  <a:srgbClr val="F0C060"/>
                </a:solidFill>
                <a:latin typeface="Consolas"/>
              </a:rPr>
              <a:t>()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, </a:t>
            </a:r>
            <a:r>
              <a:rPr sz="900" b="0" dirty="0" err="1">
                <a:solidFill>
                  <a:srgbClr val="E2E8F0"/>
                </a:solidFill>
                <a:latin typeface="Calibri"/>
              </a:rPr>
              <a:t>una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E2E8F0"/>
                </a:solidFill>
                <a:latin typeface="Calibri"/>
              </a:rPr>
              <a:t>tarea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 (</a:t>
            </a:r>
            <a:r>
              <a:rPr sz="900" b="0" dirty="0" err="1">
                <a:solidFill>
                  <a:srgbClr val="E2E8F0"/>
                </a:solidFill>
                <a:latin typeface="Calibri"/>
              </a:rPr>
              <a:t>provincia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) </a:t>
            </a:r>
            <a:r>
              <a:rPr sz="900" b="0" dirty="0" err="1">
                <a:solidFill>
                  <a:srgbClr val="E2E8F0"/>
                </a:solidFill>
                <a:latin typeface="Calibri"/>
              </a:rPr>
              <a:t>por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 worker · 739 MiB </a:t>
            </a:r>
            <a:r>
              <a:rPr sz="900" b="0" dirty="0" err="1">
                <a:solidFill>
                  <a:srgbClr val="E2E8F0"/>
                </a:solidFill>
                <a:latin typeface="Calibri"/>
              </a:rPr>
              <a:t>en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E2E8F0"/>
                </a:solidFill>
                <a:latin typeface="Calibri"/>
              </a:rPr>
              <a:t>memoria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E2E8F0"/>
                </a:solidFill>
                <a:latin typeface="Calibri"/>
              </a:rPr>
              <a:t>distribuida</a:t>
            </a:r>
            <a:r>
              <a:rPr sz="900" b="0" dirty="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9450" y="1042415"/>
            <a:ext cx="3243253" cy="219456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52514" y="1082893"/>
            <a:ext cx="3220189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dirty="0" err="1">
                <a:solidFill>
                  <a:srgbClr val="F0C060"/>
                </a:solidFill>
                <a:latin typeface="Consolas"/>
              </a:rPr>
              <a:t>Secuencial</a:t>
            </a:r>
            <a:r>
              <a:rPr sz="900" b="1" dirty="0">
                <a:solidFill>
                  <a:srgbClr val="F0C060"/>
                </a:solidFill>
                <a:latin typeface="Consolas"/>
              </a:rPr>
              <a:t> vs </a:t>
            </a:r>
            <a:r>
              <a:rPr sz="900" b="1" dirty="0" err="1">
                <a:solidFill>
                  <a:srgbClr val="F0C060"/>
                </a:solidFill>
                <a:latin typeface="Consolas"/>
              </a:rPr>
              <a:t>Dask</a:t>
            </a:r>
            <a:r>
              <a:rPr sz="900" b="1" dirty="0">
                <a:solidFill>
                  <a:srgbClr val="F0C060"/>
                </a:solidFill>
                <a:latin typeface="Consolas"/>
              </a:rPr>
              <a:t> — benchmark de </a:t>
            </a:r>
            <a:r>
              <a:rPr sz="900" b="1" dirty="0" err="1">
                <a:solidFill>
                  <a:srgbClr val="F0C060"/>
                </a:solidFill>
                <a:latin typeface="Consolas"/>
              </a:rPr>
              <a:t>preprocesamiento</a:t>
            </a:r>
            <a:endParaRPr sz="900" b="1" dirty="0">
              <a:solidFill>
                <a:srgbClr val="F0C060"/>
              </a:solidFill>
              <a:latin typeface="Consolas"/>
            </a:endParaRPr>
          </a:p>
        </p:txBody>
      </p:sp>
      <p:pic>
        <p:nvPicPr>
          <p:cNvPr id="12" name="Picture 11" descr="Dask_vs_Pan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450" y="1283072"/>
            <a:ext cx="3243253" cy="216216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61955" y="3674189"/>
            <a:ext cx="3931920" cy="201168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16819" y="3674189"/>
            <a:ext cx="38221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0C060"/>
                </a:solidFill>
                <a:latin typeface="Consolas"/>
              </a:rPr>
              <a:t>preprocessing_dask.py — paralelización por provincia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1955" y="3875357"/>
            <a:ext cx="3931920" cy="7967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35107" y="3930221"/>
            <a:ext cx="3785615" cy="469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dirty="0">
                <a:solidFill>
                  <a:srgbClr val="E2E8F0"/>
                </a:solidFill>
                <a:latin typeface="Consolas"/>
              </a:rPr>
              <a:t>client = Client('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tcp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://localhost:8786')</a:t>
            </a:r>
          </a:p>
          <a:p>
            <a:pPr algn="l">
              <a:lnSpc>
                <a:spcPct val="105000"/>
              </a:lnSpc>
            </a:pPr>
            <a:r>
              <a:rPr sz="800" b="0" dirty="0">
                <a:solidFill>
                  <a:srgbClr val="E2E8F0"/>
                </a:solidFill>
                <a:latin typeface="Consolas"/>
              </a:rPr>
              <a:t>futures = [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client.submit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procesar_provincia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pPr algn="l">
              <a:lnSpc>
                <a:spcPct val="105000"/>
              </a:lnSpc>
            </a:pPr>
            <a:r>
              <a:rPr sz="800" b="0" dirty="0">
                <a:solidFill>
                  <a:srgbClr val="E2E8F0"/>
                </a:solidFill>
                <a:latin typeface="Consolas"/>
              </a:rPr>
              <a:t>           p,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tamaño_habitacion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,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coords_centros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</a:pPr>
            <a:r>
              <a:rPr sz="800" b="0" dirty="0">
                <a:solidFill>
                  <a:srgbClr val="E2E8F0"/>
                </a:solidFill>
                <a:latin typeface="Consolas"/>
              </a:rPr>
              <a:t>           for p in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lista_provincias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]</a:t>
            </a:r>
          </a:p>
          <a:p>
            <a:pPr algn="l">
              <a:lnSpc>
                <a:spcPct val="105000"/>
              </a:lnSpc>
            </a:pPr>
            <a:r>
              <a:rPr sz="800" b="0" dirty="0" err="1">
                <a:solidFill>
                  <a:srgbClr val="E2E8F0"/>
                </a:solidFill>
                <a:latin typeface="Consolas"/>
              </a:rPr>
              <a:t>dfs_dask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 = </a:t>
            </a:r>
            <a:r>
              <a:rPr sz="800" b="0" dirty="0" err="1">
                <a:solidFill>
                  <a:srgbClr val="E2E8F0"/>
                </a:solidFill>
                <a:latin typeface="Consolas"/>
              </a:rPr>
              <a:t>client.gather</a:t>
            </a:r>
            <a:r>
              <a:rPr sz="800" b="0" dirty="0">
                <a:solidFill>
                  <a:srgbClr val="E2E8F0"/>
                </a:solidFill>
                <a:latin typeface="Consolas"/>
              </a:rPr>
              <a:t>(futures)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26203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4A6080"/>
                </a:solidFill>
                <a:latin typeface="Calibri"/>
              </a:rPr>
              <a:t>TFG · Detector de Chollos en Andalucía · Mario Jiménez · Universidad de Sevilla · 2025–2026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Interoperabilidad Python ↔ R · rpy2 + ggplot2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0C060"/>
                </a:solidFill>
                <a:latin typeface="Consolas"/>
              </a:rPr>
              <a:t>Graficos/r_integration.py  ·  Python envía el DataFrame a R  ·  R genera el gráfico ggplot2 y devuelve los bins</a:t>
            </a:r>
          </a:p>
        </p:txBody>
      </p:sp>
      <p:pic>
        <p:nvPicPr>
          <p:cNvPr id="5" name="Picture 4" descr="eda_hist_precios_compara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55939"/>
            <a:ext cx="8229600" cy="2745486"/>
          </a:xfrm>
          <a:prstGeom prst="rect">
            <a:avLst/>
          </a:prstGeom>
        </p:spPr>
      </p:pic>
      <p:pic>
        <p:nvPicPr>
          <p:cNvPr id="6" name="Picture 5" descr="eda_hist_precios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67328"/>
            <a:ext cx="1905977" cy="1058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13604" y="4032301"/>
            <a:ext cx="1776259" cy="430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dirty="0">
                <a:solidFill>
                  <a:srgbClr val="F0C060"/>
                </a:solidFill>
                <a:latin typeface="Calibri"/>
              </a:rPr>
              <a:t>ggplot2 (R)</a:t>
            </a:r>
          </a:p>
          <a:p>
            <a:pPr algn="l">
              <a:lnSpc>
                <a:spcPct val="105000"/>
              </a:lnSpc>
            </a:pPr>
            <a:r>
              <a:rPr sz="850" b="0" dirty="0" err="1">
                <a:solidFill>
                  <a:srgbClr val="CBD5E1"/>
                </a:solidFill>
                <a:latin typeface="Calibri"/>
              </a:rPr>
              <a:t>Mismo</a:t>
            </a:r>
            <a:r>
              <a:rPr sz="850" b="0" dirty="0">
                <a:solidFill>
                  <a:srgbClr val="CBD5E1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CBD5E1"/>
                </a:solidFill>
                <a:latin typeface="Calibri"/>
              </a:rPr>
              <a:t>histograma</a:t>
            </a:r>
            <a:r>
              <a:rPr sz="850" b="0" dirty="0">
                <a:solidFill>
                  <a:srgbClr val="CBD5E1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CBD5E1"/>
                </a:solidFill>
                <a:latin typeface="Calibri"/>
              </a:rPr>
              <a:t>generado</a:t>
            </a:r>
            <a:r>
              <a:rPr sz="850" b="0" dirty="0">
                <a:solidFill>
                  <a:srgbClr val="CBD5E1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CBD5E1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CBD5E1"/>
                </a:solidFill>
                <a:latin typeface="Calibri"/>
              </a:rPr>
              <a:t> R con </a:t>
            </a:r>
          </a:p>
          <a:p>
            <a:pPr algn="l">
              <a:lnSpc>
                <a:spcPct val="105000"/>
              </a:lnSpc>
            </a:pPr>
            <a:r>
              <a:rPr sz="850" b="1" dirty="0" err="1">
                <a:solidFill>
                  <a:srgbClr val="F0C060"/>
                </a:solidFill>
                <a:latin typeface="Consolas"/>
              </a:rPr>
              <a:t>ggsave</a:t>
            </a:r>
            <a:r>
              <a:rPr sz="850" b="1" dirty="0">
                <a:solidFill>
                  <a:srgbClr val="F0C060"/>
                </a:solidFill>
                <a:latin typeface="Consolas"/>
              </a:rPr>
              <a:t>()</a:t>
            </a:r>
            <a:r>
              <a:rPr sz="850" b="0" dirty="0">
                <a:solidFill>
                  <a:srgbClr val="CBD5E1"/>
                </a:solidFill>
                <a:latin typeface="Calibri"/>
              </a:rPr>
              <a:t> y </a:t>
            </a:r>
            <a:r>
              <a:rPr sz="850" b="0" dirty="0" err="1">
                <a:solidFill>
                  <a:srgbClr val="CBD5E1"/>
                </a:solidFill>
                <a:latin typeface="Calibri"/>
              </a:rPr>
              <a:t>devuelto</a:t>
            </a:r>
            <a:r>
              <a:rPr sz="850" b="0" dirty="0">
                <a:solidFill>
                  <a:srgbClr val="CBD5E1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CBD5E1"/>
                </a:solidFill>
                <a:latin typeface="Calibri"/>
              </a:rPr>
              <a:t>como</a:t>
            </a:r>
            <a:r>
              <a:rPr sz="850" b="0" dirty="0">
                <a:solidFill>
                  <a:srgbClr val="CBD5E1"/>
                </a:solidFill>
                <a:latin typeface="Calibri"/>
              </a:rPr>
              <a:t> imagen.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813048"/>
            <a:ext cx="4230014" cy="201168"/>
          </a:xfrm>
          <a:prstGeom prst="rect">
            <a:avLst/>
          </a:prstGeom>
          <a:solidFill>
            <a:srgbClr val="2A5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26864" y="3813048"/>
            <a:ext cx="412028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0C060"/>
                </a:solidFill>
                <a:latin typeface="Consolas"/>
              </a:rPr>
              <a:t>r_integration.py — Python → R con rpy2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014216"/>
            <a:ext cx="4230014" cy="603503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4059936"/>
            <a:ext cx="4083710" cy="530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E2E8F0"/>
                </a:solidFill>
                <a:latin typeface="Consolas"/>
              </a:rPr>
              <a:t>ro.globalenv['df_r'] = pandas2ri.py2rpy(df[['precio']])</a:t>
            </a:r>
          </a:p>
          <a:p>
            <a:pPr algn="l">
              <a:lnSpc>
                <a:spcPct val="105000"/>
              </a:lnSpc>
            </a:pPr>
            <a:r>
              <a:rPr sz="800" b="0">
                <a:solidFill>
                  <a:srgbClr val="E2E8F0"/>
                </a:solidFill>
                <a:latin typeface="Consolas"/>
              </a:rPr>
              <a:t>ro.r('hist_data &lt;- hist(df_r$precio, plot=FALSE)')</a:t>
            </a:r>
          </a:p>
          <a:p>
            <a:pPr algn="l">
              <a:lnSpc>
                <a:spcPct val="105000"/>
              </a:lnSpc>
            </a:pPr>
            <a:r>
              <a:rPr sz="800" b="0">
                <a:solidFill>
                  <a:srgbClr val="E2E8F0"/>
                </a:solidFill>
                <a:latin typeface="Consolas"/>
              </a:rPr>
              <a:t>breaks = list(ro.r('hist_data$breaks'))</a:t>
            </a:r>
          </a:p>
          <a:p>
            <a:pPr algn="l">
              <a:lnSpc>
                <a:spcPct val="105000"/>
              </a:lnSpc>
            </a:pPr>
            <a:r>
              <a:rPr sz="800" b="0">
                <a:solidFill>
                  <a:srgbClr val="E2E8F0"/>
                </a:solidFill>
                <a:latin typeface="Consolas"/>
              </a:rPr>
              <a:t>counts = list(ro.r('hist_data$counts'))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26203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4A6080"/>
                </a:solidFill>
                <a:latin typeface="Calibri"/>
              </a:rPr>
              <a:t>TFG · Detector de Chollos en Andalucía · Mario Jiménez · Universidad de Sevilla · 2025–2026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Gold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ML Supervisado · transformaciones.py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onsolas" pitchFamily="34" charset="0"/>
              </a:rPr>
              <a:t>Modelizacion/transformaciones.py  ·  partición + estandarización  ·  módulo separado del entrenamiento</a:t>
            </a:r>
          </a:p>
        </p:txBody>
      </p:sp>
      <p:sp>
        <p:nvSpPr>
          <p:cNvPr id="6" name="LblPart"/>
          <p:cNvSpPr/>
          <p:nvPr/>
        </p:nvSpPr>
        <p:spPr>
          <a:xfrm>
            <a:off x="274320" y="948960"/>
            <a:ext cx="4115880" cy="22860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✂️  train_test_validation_particion()</a:t>
            </a:r>
          </a:p>
        </p:txBody>
      </p:sp>
      <p:sp>
        <p:nvSpPr>
          <p:cNvPr id="7" name="CardPart"/>
          <p:cNvSpPr/>
          <p:nvPr/>
        </p:nvSpPr>
        <p:spPr>
          <a:xfrm>
            <a:off x="274320" y="1177560"/>
            <a:ext cx="4115880" cy="13518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1E293B"/>
                </a:solidFill>
                <a:latin typeface="Calibri" pitchFamily="34" charset="0"/>
              </a:rPr>
              <a:t>Divide el dataset en 3 conjuntos con proporción 70 / 15 / 15: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50" b="1" dirty="0">
                <a:solidFill>
                  <a:srgbClr val="1A2E4A"/>
                </a:solidFill>
                <a:latin typeface="Calibri" pitchFamily="34" charset="0"/>
              </a:rPr>
              <a:t>Estrategia en 2 pasos: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1. Partición 70-30 → train y temporal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2. Partición 50-50 del temporal → val y test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X_train, X_temp, y_train, y_temp = train_test_split(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    features, target, train_size=0.7, random_state=42)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X_val, X_test, y_val, y_test = train_test_split(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    X_temp, y_temp, train_size=0.5, random_state=42)</a:t>
            </a:r>
          </a:p>
        </p:txBody>
      </p:sp>
      <p:sp>
        <p:nvSpPr>
          <p:cNvPr id="8" name="LblEst"/>
          <p:cNvSpPr/>
          <p:nvPr/>
        </p:nvSpPr>
        <p:spPr>
          <a:xfrm>
            <a:off x="274320" y="2568719"/>
            <a:ext cx="4115880" cy="22860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📏  estandarizar_datos()  —  solo para Regresión Lineal</a:t>
            </a:r>
          </a:p>
        </p:txBody>
      </p:sp>
      <p:sp>
        <p:nvSpPr>
          <p:cNvPr id="9" name="CardEst"/>
          <p:cNvSpPr/>
          <p:nvPr/>
        </p:nvSpPr>
        <p:spPr>
          <a:xfrm>
            <a:off x="274320" y="2797319"/>
            <a:ext cx="4115880" cy="2023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1E293B"/>
                </a:solidFill>
                <a:latin typeface="Calibri" pitchFamily="34" charset="0"/>
              </a:rPr>
              <a:t>Aplica Z-score scaling: media = 0, desviación = 1.</a:t>
            </a:r>
          </a:p>
          <a:p>
            <a:pPr marL="0" indent="0">
              <a:buNone/>
            </a:pPr>
            <a:r>
              <a:rPr lang="es-ES" sz="880" b="1" dirty="0">
                <a:solidFill>
                  <a:srgbClr val="1A2E4A"/>
                </a:solidFill>
                <a:latin typeface="Consolas" pitchFamily="34" charset="0"/>
              </a:rPr>
              <a:t>Fórmula: z = (x − μ) / σ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50" b="1" dirty="0">
                <a:solidFill>
                  <a:srgbClr val="DC2626"/>
                </a:solidFill>
                <a:latin typeface="Calibri" pitchFamily="34" charset="0"/>
              </a:rPr>
              <a:t>⚠️  fit() solo sobre train: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El scaler aprende μ y σ en train. Val y test solo usan transform().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Evita filtrar información del futuro al modelo (data leakage).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scaler_X = StandardScaler()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X_train = scaler_X.fit_transform(X_train)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X_val   = scaler_X.transform(X_val)   # solo transforma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X_test  = scaler_X.transform(X_test)  # solo transforma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64748B"/>
                </a:solidFill>
                <a:latin typeface="Consolas" pitchFamily="34" charset="0"/>
              </a:rPr>
              <a:t># Guardado si el mejor modelo es Regresión Lineal: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joblib.dump(scaler_X, 'scaler_X_regresion.pkl')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joblib.dump(scaler_y, 'scaler_y_regresion.pkl')</a:t>
            </a:r>
          </a:p>
        </p:txBody>
      </p:sp>
      <p:sp>
        <p:nvSpPr>
          <p:cNvPr id="10" name="LblDiag"/>
          <p:cNvSpPr/>
          <p:nvPr/>
        </p:nvSpPr>
        <p:spPr>
          <a:xfrm>
            <a:off x="4480920" y="948960"/>
            <a:ext cx="4390920" cy="22860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📊  Diagrama de partición 70 / 15 / 15</a:t>
            </a:r>
          </a:p>
        </p:txBody>
      </p:sp>
      <p:sp>
        <p:nvSpPr>
          <p:cNvPr id="20" name="Block0"/>
          <p:cNvSpPr/>
          <p:nvPr/>
        </p:nvSpPr>
        <p:spPr>
          <a:xfrm>
            <a:off x="4480920" y="1177559"/>
            <a:ext cx="1371600" cy="983159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 err="1">
                <a:solidFill>
                  <a:srgbClr val="D4A843"/>
                </a:solidFill>
                <a:latin typeface="Calibri" pitchFamily="34" charset="0"/>
              </a:rPr>
              <a:t>X_train</a:t>
            </a: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: 70%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F4F8FC"/>
                </a:solidFill>
                <a:latin typeface="Calibri" pitchFamily="34" charset="0"/>
              </a:rPr>
              <a:t>GridSearchCV
+ K-Fold cv=3
Ajuste hiperparáms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50" b="1" dirty="0">
                <a:solidFill>
                  <a:srgbClr val="F0C060"/>
                </a:solidFill>
                <a:latin typeface="Calibri" pitchFamily="34" charset="0"/>
              </a:rPr>
              <a:t>→ Ajusta y entrena</a:t>
            </a:r>
          </a:p>
        </p:txBody>
      </p:sp>
      <p:sp>
        <p:nvSpPr>
          <p:cNvPr id="21" name="Block1"/>
          <p:cNvSpPr/>
          <p:nvPr/>
        </p:nvSpPr>
        <p:spPr>
          <a:xfrm>
            <a:off x="5943960" y="1177560"/>
            <a:ext cx="1371600" cy="983158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 err="1">
                <a:solidFill>
                  <a:srgbClr val="D4A843"/>
                </a:solidFill>
                <a:latin typeface="Calibri" pitchFamily="34" charset="0"/>
              </a:rPr>
              <a:t>X_val</a:t>
            </a: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: 15%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F4F8FC"/>
                </a:solidFill>
                <a:latin typeface="Calibri" pitchFamily="34" charset="0"/>
              </a:rPr>
              <a:t>Comparación
modelos
→ selección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50" b="1" dirty="0">
                <a:solidFill>
                  <a:srgbClr val="F0C060"/>
                </a:solidFill>
                <a:latin typeface="Calibri" pitchFamily="34" charset="0"/>
              </a:rPr>
              <a:t>→ Tomas decisiones</a:t>
            </a:r>
          </a:p>
        </p:txBody>
      </p:sp>
      <p:sp>
        <p:nvSpPr>
          <p:cNvPr id="22" name="Block2"/>
          <p:cNvSpPr/>
          <p:nvPr/>
        </p:nvSpPr>
        <p:spPr>
          <a:xfrm>
            <a:off x="7407000" y="1177560"/>
            <a:ext cx="1371600" cy="975852"/>
          </a:xfrm>
          <a:prstGeom prst="rect">
            <a:avLst/>
          </a:prstGeom>
          <a:solidFill>
            <a:srgbClr val="5C1A1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 err="1">
                <a:solidFill>
                  <a:srgbClr val="D4A843"/>
                </a:solidFill>
                <a:latin typeface="Calibri" pitchFamily="34" charset="0"/>
              </a:rPr>
              <a:t>X_test</a:t>
            </a: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: 15%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F4F8FC"/>
                </a:solidFill>
                <a:latin typeface="Calibri" pitchFamily="34" charset="0"/>
              </a:rPr>
              <a:t>Evaluación
final
(solo 1 vez)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50" b="1" dirty="0">
                <a:solidFill>
                  <a:srgbClr val="F0C060"/>
                </a:solidFill>
                <a:latin typeface="Calibri" pitchFamily="34" charset="0"/>
              </a:rPr>
              <a:t>→ No tomas decisiones</a:t>
            </a:r>
          </a:p>
        </p:txBody>
      </p:sp>
      <p:sp>
        <p:nvSpPr>
          <p:cNvPr id="23" name="LblWhy"/>
          <p:cNvSpPr/>
          <p:nvPr/>
        </p:nvSpPr>
        <p:spPr>
          <a:xfrm>
            <a:off x="4478760" y="2206079"/>
            <a:ext cx="4390920" cy="244783"/>
          </a:xfrm>
          <a:prstGeom prst="rect">
            <a:avLst/>
          </a:prstGeom>
          <a:solidFill>
            <a:srgbClr val="4A1A6B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💡  ¿Por qué módulo separado?</a:t>
            </a:r>
          </a:p>
        </p:txBody>
      </p:sp>
      <p:sp>
        <p:nvSpPr>
          <p:cNvPr id="24" name="CardWhy"/>
          <p:cNvSpPr/>
          <p:nvPr/>
        </p:nvSpPr>
        <p:spPr>
          <a:xfrm>
            <a:off x="4478760" y="2434680"/>
            <a:ext cx="4390920" cy="10400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1E293B"/>
                </a:solidFill>
                <a:latin typeface="Calibri" pitchFamily="34" charset="0"/>
              </a:rPr>
              <a:t>Separar transformaciones.py de Modelizacion.py permite: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✅  Reutilizar la partición en diferentes experimentos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✅  La app (_feature_engineering.py) importa solo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     las transformaciones sin cargar todo el pipeline ML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✅  Tests unitarios más fáciles de escribir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✅  Sigue el principio de responsabilidad única (SRP)</a:t>
            </a:r>
          </a:p>
        </p:txBody>
      </p:sp>
      <p:sp>
        <p:nvSpPr>
          <p:cNvPr id="25" name="LblImport"/>
          <p:cNvSpPr/>
          <p:nvPr/>
        </p:nvSpPr>
        <p:spPr>
          <a:xfrm>
            <a:off x="4480920" y="3520080"/>
            <a:ext cx="4390920" cy="228600"/>
          </a:xfrm>
          <a:prstGeom prst="rect">
            <a:avLst/>
          </a:prstGeom>
          <a:solidFill>
            <a:srgbClr val="1A5C5C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🔗  Uso en Modelizacion.py</a:t>
            </a:r>
          </a:p>
        </p:txBody>
      </p:sp>
      <p:sp>
        <p:nvSpPr>
          <p:cNvPr id="26" name="CardImport"/>
          <p:cNvSpPr/>
          <p:nvPr/>
        </p:nvSpPr>
        <p:spPr>
          <a:xfrm>
            <a:off x="4480920" y="3748680"/>
            <a:ext cx="4390920" cy="107784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00" dirty="0">
                <a:solidFill>
                  <a:srgbClr val="E2E8F0"/>
                </a:solidFill>
                <a:latin typeface="Consolas" pitchFamily="34" charset="0"/>
              </a:rPr>
              <a:t>from TFG_Chollos.Modelizacion.transformaciones import (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F0C060"/>
                </a:solidFill>
                <a:latin typeface="Consolas" pitchFamily="34" charset="0"/>
              </a:rPr>
              <a:t>    train_test_validation_particion,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F0C060"/>
                </a:solidFill>
                <a:latin typeface="Consolas" pitchFamily="34" charset="0"/>
              </a:rPr>
              <a:t>    estandarizar_datos,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E2E8F0"/>
                </a:solidFill>
                <a:latin typeface="Consolas" pitchFamily="34" charset="0"/>
              </a:rPr>
              <a:t>)</a:t>
            </a:r>
          </a:p>
          <a:p>
            <a:pPr marL="0" indent="0">
              <a:buNone/>
            </a:pPr>
            <a:r>
              <a:rPr lang="es-ES" sz="700" dirty="0">
                <a:latin typeface="Consolas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64748B"/>
                </a:solidFill>
                <a:latin typeface="Consolas" pitchFamily="34" charset="0"/>
              </a:rPr>
              <a:t># Y en la app (_feature_engineering.py):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from TFG_Chollos.Cleaning.preprocessing import (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F0C060"/>
                </a:solidFill>
                <a:latin typeface="Consolas" pitchFamily="34" charset="0"/>
              </a:rPr>
              <a:t>    extraer_servicios_influyentes, añadir_distancia_centro)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688960" y="48051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64748B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Supervisado · Regresión de Precio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Modelizacion/Modelizacion.py  +  Modelizacion/transformaciones.py  →  predicción del precio justo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777240"/>
          </a:xfrm>
          <a:prstGeom prst="rect">
            <a:avLst/>
          </a:prstGeom>
          <a:solidFill>
            <a:srgbClr val="2A50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418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 (70%)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795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+ K-Fold cv=3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hiperparámetros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mejor combinación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82112" y="914400"/>
            <a:ext cx="1828800" cy="777240"/>
          </a:xfrm>
          <a:prstGeom prst="rect">
            <a:avLst/>
          </a:prstGeom>
          <a:solidFill>
            <a:srgbClr val="1F5C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82112" y="941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X_val (15%)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82112" y="117957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modelos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selección del mejor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por R²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84064" y="914400"/>
            <a:ext cx="1828800" cy="777240"/>
          </a:xfrm>
          <a:prstGeom prst="rect">
            <a:avLst/>
          </a:prstGeom>
          <a:solidFill>
            <a:srgbClr val="5C1A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84064" y="941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X_test (15%)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84064" y="117957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 única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MAE, RMSE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se toca antes)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2064" y="392666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fit_transform() solo en X_train · transform() en val/test → no data leakage · X_test usado una sola vez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1975104"/>
            <a:ext cx="6537960" cy="24688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99339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38528" y="199339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requerido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12464" y="1993392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GridSearch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221992"/>
            <a:ext cx="6537960" cy="2468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24028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38528" y="224028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12464" y="224028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6537960" cy="24688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48716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38528" y="248716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escalar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12464" y="248716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[3,5,10,15]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2715768"/>
            <a:ext cx="6537960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7340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38528" y="27340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escalar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12464" y="2734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[50,100]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[10,20]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118104"/>
            <a:ext cx="6537960" cy="402336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3136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38528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escalar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12464" y="3136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 [100,300,500]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[0.01,0.05,0.1]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[3,5]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50608" y="713232"/>
            <a:ext cx="91440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49" name="Text 47"/>
          <p:cNvSpPr/>
          <p:nvPr/>
        </p:nvSpPr>
        <p:spPr>
          <a:xfrm>
            <a:off x="7205472" y="7132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78624" y="987552"/>
            <a:ext cx="12801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XGBoost Regressor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boosting = XGBRegressor(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random_state=42,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n_jobs=-1,    # paralela interna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verbosity=0)  # silencia output propio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'n_estimators':  [100, 300, 500],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'learning_rate': [0.01, 0.05, 0.1],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'max_depth':     [3, 5],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GridSearchCV(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estimator=boosting,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param_grid=param_grid,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cv=3,  # K-Fold sobre X_train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scoring='neg_mean_squared_error',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n_jobs=-1)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grid.fit(X_train, y_train)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mejor = grid.best_estimator_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joblib.dump(mejor, 'boosting_reg.pkl')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4828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·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Corrplot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Studio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272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Correlación lineal (Pearson) · dataset codificado numéricamente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819" y="982104"/>
            <a:ext cx="6788377" cy="394092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5720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0" name="LabelCorrplot"/>
          <p:cNvSpPr/>
          <p:nvPr/>
        </p:nvSpPr>
        <p:spPr>
          <a:xfrm>
            <a:off x="274680" y="786436"/>
            <a:ext cx="859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📊  Pearson · </a:t>
            </a:r>
            <a:r>
              <a:rPr lang="es-ES" sz="900" b="1" dirty="0">
                <a:solidFill>
                  <a:srgbClr val="FF0000"/>
                </a:solidFill>
                <a:latin typeface="Calibri" pitchFamily="34" charset="0"/>
              </a:rPr>
              <a:t>R Studio </a:t>
            </a:r>
            <a:r>
              <a:rPr lang="es-ES" sz="900" b="1" dirty="0" err="1">
                <a:solidFill>
                  <a:srgbClr val="FF0000"/>
                </a:solidFill>
                <a:latin typeface="Calibri" pitchFamily="34" charset="0"/>
              </a:rPr>
              <a:t>corrplot</a:t>
            </a:r>
            <a:r>
              <a:rPr lang="es-ES" sz="900" b="1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· 30 variables · LabelEncoder + get_dummies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Datos  (2/3)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Regresión Lineal  ·  Mapa Coroplético Andalucía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6" y="1175004"/>
            <a:ext cx="4535424" cy="331012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57200" y="4828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0" name="LabelCorrplot"/>
          <p:cNvSpPr/>
          <p:nvPr/>
        </p:nvSpPr>
        <p:spPr>
          <a:xfrm>
            <a:off x="274320" y="770400"/>
            <a:ext cx="4389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Regresión Lineal: tamaño_habitacion vs precio</a:t>
            </a:r>
          </a:p>
        </p:txBody>
      </p:sp>
      <p:sp>
        <p:nvSpPr>
          <p:cNvPr id="51" name="LabelArbol"/>
          <p:cNvSpPr/>
          <p:nvPr/>
        </p:nvSpPr>
        <p:spPr>
          <a:xfrm>
            <a:off x="4731120" y="770400"/>
            <a:ext cx="4130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🗺️  Mapa Coroplético Andalucía  ·  plotly.express</a:t>
            </a:r>
          </a:p>
        </p:txBody>
      </p:sp>
      <p:sp>
        <p:nvSpPr>
          <p:cNvPr id="60" name="MapaDesc"/>
          <p:cNvSpPr/>
          <p:nvPr/>
        </p:nvSpPr>
        <p:spPr>
          <a:xfrm>
            <a:off x="4731120" y="960120"/>
            <a:ext cx="4130640" cy="11430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s-ES" sz="900" dirty="0">
                <a:solidFill>
                  <a:srgbClr val="F4F8FC"/>
                </a:solidFill>
                <a:latin typeface="Calibri" pitchFamily="34" charset="0"/>
              </a:rPr>
              <a:t>Choropleth por provincias andaluzas (GeoJSON spain-provinces) + scatter de alojamientos únicos (lat/lon). El HTML resultante se usa como mapa por defecto en la app Streamlit del usuario final.</a:t>
            </a:r>
          </a:p>
        </p:txBody>
      </p:sp>
      <p:sp>
        <p:nvSpPr>
          <p:cNvPr id="61" name="MapaCode"/>
          <p:cNvSpPr/>
          <p:nvPr/>
        </p:nvSpPr>
        <p:spPr>
          <a:xfrm>
            <a:off x="4731120" y="2160120"/>
            <a:ext cx="4130640" cy="1761876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49" charset="0"/>
              </a:rPr>
              <a:t># Mapa coroplético + scatter
fig = px.choropleth(
  locations=NOMBRES_PROVINCIAS,
  geojson=geojson,
  featureidkey="properties.name",
  color=alojamientos_por_provincia,
  color_continuous_scale="Reds")
fig.add_scattergeo(
  lat=df['latitud'],
  lon=df['longitud'],
  mode="markers",
  marker=dict(size=5,color="green"))
fig.write_html(salida)  # → Streamlit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· Árbol de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 plot_tree · variable raíz: tamaño_habitacion ≤ 75.5 · primeros 4 niveles</a:t>
            </a:r>
            <a:endParaRPr lang="en-US" sz="1000" dirty="0"/>
          </a:p>
        </p:txBody>
      </p:sp>
      <p:pic>
        <p:nvPicPr>
          <p:cNvPr id="60" name="ArbolDecision" descr="arbol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4640" cy="4014720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Resultados de los Modelos · Conjunto de TEST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onsolas" pitchFamily="34" charset="0"/>
              </a:rPr>
              <a:t>Modelizacion/Modelizacion.py · Evaluación final (X_test, usado una única vez)</a:t>
            </a:r>
          </a:p>
        </p:txBody>
      </p:sp>
      <p:sp>
        <p:nvSpPr>
          <p:cNvPr id="5" name="LblTabla"/>
          <p:cNvSpPr/>
          <p:nvPr/>
        </p:nvSpPr>
        <p:spPr>
          <a:xfrm>
            <a:off x="182880" y="868680"/>
            <a:ext cx="5486400" cy="22860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📊  Comparativa de modelos — Métricas sobre conjunto de TEST</a:t>
            </a:r>
          </a:p>
        </p:txBody>
      </p:sp>
      <p:pic>
        <p:nvPicPr>
          <p:cNvPr id="6" name="TablaMetric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486400" cy="1554480"/>
          </a:xfrm>
          <a:prstGeom prst="rect">
            <a:avLst/>
          </a:prstGeom>
          <a:noFill/>
          <a:ln/>
        </p:spPr>
      </p:pic>
      <p:sp>
        <p:nvSpPr>
          <p:cNvPr id="7" name="WinnerBox"/>
          <p:cNvSpPr/>
          <p:nvPr/>
        </p:nvSpPr>
        <p:spPr>
          <a:xfrm>
            <a:off x="5852880" y="868680"/>
            <a:ext cx="3108960" cy="1783080"/>
          </a:xfrm>
          <a:prstGeom prst="rect">
            <a:avLst/>
          </a:prstGeom>
          <a:solidFill>
            <a:srgbClr val="1E3A5F"/>
          </a:solidFill>
          <a:ln>
            <a:solidFill>
              <a:srgbClr val="16A34A"/>
            </a:solidFill>
          </a:ln>
        </p:spPr>
        <p:txBody>
          <a:bodyPr wrap="square" lIns="182880" tIns="91440" rIns="182880" bIns="9144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16A34A"/>
                </a:solidFill>
                <a:latin typeface="Calibri" pitchFamily="34" charset="0"/>
              </a:rPr>
              <a:t>🏆  Mejor modelo: Bosque Aleatorio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R²</a:t>
            </a:r>
            <a:r>
              <a:rPr lang="es-ES" sz="900" dirty="0">
                <a:solidFill>
                  <a:srgbClr val="CBD5E1"/>
                </a:solidFill>
                <a:latin typeface="Calibri" pitchFamily="34" charset="0"/>
              </a:rPr>
              <a:t>  =  </a:t>
            </a: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0.8779</a:t>
            </a:r>
          </a:p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MAE</a:t>
            </a:r>
            <a:r>
              <a:rPr lang="es-ES" sz="900" dirty="0">
                <a:solidFill>
                  <a:srgbClr val="CBD5E1"/>
                </a:solidFill>
                <a:latin typeface="Calibri" pitchFamily="34" charset="0"/>
              </a:rPr>
              <a:t>  =  </a:t>
            </a:r>
            <a:r>
              <a:rPr lang="es-ES" sz="1800" b="1" dirty="0">
                <a:solidFill>
                  <a:srgbClr val="F4F8FC"/>
                </a:solidFill>
                <a:latin typeface="Calibri" pitchFamily="34" charset="0"/>
              </a:rPr>
              <a:t>19.45 €</a:t>
            </a:r>
          </a:p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RMSE</a:t>
            </a:r>
            <a:r>
              <a:rPr lang="es-ES" sz="900" dirty="0">
                <a:solidFill>
                  <a:srgbClr val="CBD5E1"/>
                </a:solidFill>
                <a:latin typeface="Calibri" pitchFamily="34" charset="0"/>
              </a:rPr>
              <a:t>  =  </a:t>
            </a:r>
            <a:r>
              <a:rPr lang="es-ES" sz="1800" b="1" dirty="0">
                <a:solidFill>
                  <a:srgbClr val="F4F8FC"/>
                </a:solidFill>
                <a:latin typeface="Calibri" pitchFamily="34" charset="0"/>
              </a:rPr>
              <a:t>33.18 €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900" dirty="0">
                <a:solidFill>
                  <a:srgbClr val="CBD5E1"/>
                </a:solidFill>
                <a:latin typeface="Calibri" pitchFamily="34" charset="0"/>
              </a:rPr>
              <a:t>Explica el 87,8% de la varianza del precio.
Error medio de ±19,45€ sobre el precio real.</a:t>
            </a:r>
          </a:p>
        </p:txBody>
      </p:sp>
      <p:sp>
        <p:nvSpPr>
          <p:cNvPr id="8" name="LblDist"/>
          <p:cNvSpPr/>
          <p:nvPr/>
        </p:nvSpPr>
        <p:spPr>
          <a:xfrm>
            <a:off x="182880" y="2743200"/>
            <a:ext cx="4921383" cy="22860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📊  Distribución de categorías de chollo — Conjunto TEST (414.936 registros)</a:t>
            </a:r>
          </a:p>
        </p:txBody>
      </p:sp>
      <p:pic>
        <p:nvPicPr>
          <p:cNvPr id="9" name="TablaDistri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972880"/>
            <a:ext cx="4921383" cy="1782000"/>
          </a:xfrm>
          <a:prstGeom prst="rect">
            <a:avLst/>
          </a:prstGeom>
          <a:noFill/>
          <a:ln/>
        </p:spPr>
      </p:pic>
      <p:sp>
        <p:nvSpPr>
          <p:cNvPr id="10" name="InsightBox"/>
          <p:cNvSpPr/>
          <p:nvPr/>
        </p:nvSpPr>
        <p:spPr>
          <a:xfrm>
            <a:off x="5424985" y="2743200"/>
            <a:ext cx="3536855" cy="2011680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182880" tIns="182880" rIns="182880" bIns="91440" rtlCol="0" anchor="t"/>
          <a:lstStyle/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💡  Interpretación: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900" b="1" dirty="0">
                <a:solidFill>
                  <a:srgbClr val="16A34A"/>
                </a:solidFill>
                <a:latin typeface="Calibri" pitchFamily="34" charset="0"/>
              </a:rPr>
              <a:t>Chollos detectados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CBD5E1"/>
                </a:solidFill>
                <a:latin typeface="Calibri" pitchFamily="34" charset="0"/>
              </a:rPr>
              <a:t>chollo + super + híper-chollo</a:t>
            </a:r>
          </a:p>
          <a:p>
            <a:pPr marL="0" indent="0">
              <a:buNone/>
            </a:pPr>
            <a:r>
              <a:rPr lang="es-ES" sz="1300" b="1" dirty="0">
                <a:solidFill>
                  <a:srgbClr val="FFFFFF"/>
                </a:solidFill>
                <a:latin typeface="Calibri" pitchFamily="34" charset="0"/>
              </a:rPr>
              <a:t>= 206.006 registros</a:t>
            </a:r>
          </a:p>
          <a:p>
            <a:pPr marL="0" indent="0">
              <a:buNone/>
            </a:pPr>
            <a:r>
              <a:rPr lang="es-ES" sz="1000" b="1" dirty="0">
                <a:solidFill>
                  <a:srgbClr val="16A34A"/>
                </a:solidFill>
                <a:latin typeface="Calibri" pitchFamily="34" charset="0"/>
              </a:rPr>
              <a:t>= 49,9% del conjunto TEST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900" dirty="0">
                <a:solidFill>
                  <a:srgbClr val="CBD5E1"/>
                </a:solidFill>
                <a:latin typeface="Calibri" pitchFamily="34" charset="0"/>
              </a:rPr>
              <a:t>El modelo identifica correctamente
casi 1 de cada 2 alojamientos
como oportunidad de ahorro.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8899AA"/>
                </a:solidFill>
                <a:latin typeface="Calibri" pitchFamily="34" charset="0"/>
              </a:rPr>
              <a:t>Inflado + Normal = 207.930 (50.1%)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4A6080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5946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4A608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de Chollos · Núcleo del Proyecto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crear_etiqueta_chollo(y_real, y_predicho)  →  ratio precio_real / precio_predicho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148840" cy="475488"/>
          </a:xfrm>
          <a:prstGeom prst="rect">
            <a:avLst/>
          </a:prstGeom>
          <a:solidFill>
            <a:srgbClr val="1A7A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3385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Hiper-chollo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350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≤ 0.75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&gt;25% más barato que el precio justo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636776"/>
            <a:ext cx="2148840" cy="475488"/>
          </a:xfrm>
          <a:prstGeom prst="rect">
            <a:avLst/>
          </a:prstGeom>
          <a:solidFill>
            <a:srgbClr val="2E8B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6550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Super-chollo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18562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&lt; ratio &lt; 0.85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más barato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2148840" cy="475488"/>
          </a:xfrm>
          <a:prstGeom prst="rect">
            <a:avLst/>
          </a:prstGeom>
          <a:solidFill>
            <a:srgbClr val="3DA8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1762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Chollo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≤ ratio &lt; 0.97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3–15% más barato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679192"/>
            <a:ext cx="2148840" cy="475488"/>
          </a:xfrm>
          <a:prstGeom prst="rect">
            <a:avLst/>
          </a:prstGeom>
          <a:solidFill>
            <a:srgbClr val="1A4A8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697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Normal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89864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 ≤ ratio ≤ 1.03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dentro del ±3%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2148840" cy="475488"/>
          </a:xfrm>
          <a:prstGeom prst="rect">
            <a:avLst/>
          </a:prstGeom>
          <a:solidFill>
            <a:srgbClr val="B81A1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2186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Inflado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4198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&gt; 1.03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 3% por encima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24912" y="1115567"/>
            <a:ext cx="4023360" cy="2787352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24912" y="914400"/>
            <a:ext cx="237744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23" name="Text 21"/>
          <p:cNvSpPr/>
          <p:nvPr/>
        </p:nvSpPr>
        <p:spPr>
          <a:xfrm>
            <a:off x="2779776" y="9144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crear_etiqueta_chollo()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52928" y="1188720"/>
            <a:ext cx="3767328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crear_etiqueta_chollo(y_real, y_predicho):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Compara precio real vs. precio predicho por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 modelo de regresión. El ratio indica cuánto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vale el alojamiento respecto a su 'precio justo'.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ratio = y_real / y_predicho  # &lt; 1 = más barato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condiciones = 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ratio &lt;= 0.75,                       # hiper_chollo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(ratio &gt; 0.75) &amp; (ratio &lt; 0.85),    # super_chollo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(ratio &gt;= 0.85) &amp; (ratio &lt; 0.97),   # chollo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(ratio &gt;= 0.97) &amp; (ratio &lt;= 1.03),  # normal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ratio &gt; 1.03                         # inflado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etiquetas = [4, 3, 2, 1, 0]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np.select aplica condiciones vectorizadas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pd.Series(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np.select(condiciones, etiquetas),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index=y_real.index,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name='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03720" y="1115567"/>
            <a:ext cx="1783080" cy="2787351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1115568"/>
            <a:ext cx="17830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 clasificación?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95160" y="1627632"/>
            <a:ext cx="16002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chollo es consecuencia directa de la comparación entre precio real y precio predicho.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chollo no tiene sentido sin su precio de referencia.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un modelo de clasificación sobre etiquetas derivadas del propio modelo de regresión sería redundante y añadiría complejidad sin valor.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determinista (ratio) es interpretable, reproducible y no introduce sesgo de aprendizaje.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2336" y="3838911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0976" y="4058367"/>
            <a:ext cx="109728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4058367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features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048256" y="4277823"/>
            <a:ext cx="146304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4560" y="4058367"/>
            <a:ext cx="1097280" cy="502920"/>
          </a:xfrm>
          <a:prstGeom prst="rect">
            <a:avLst/>
          </a:prstGeom>
          <a:solidFill>
            <a:srgbClr val="2A508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4058367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91840" y="4277823"/>
            <a:ext cx="146304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6" name="Shape 34"/>
          <p:cNvSpPr/>
          <p:nvPr/>
        </p:nvSpPr>
        <p:spPr>
          <a:xfrm>
            <a:off x="3438144" y="4058367"/>
            <a:ext cx="109728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38144" y="4058367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y_predicho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535424" y="4277823"/>
            <a:ext cx="146304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9" name="Shape 37"/>
          <p:cNvSpPr/>
          <p:nvPr/>
        </p:nvSpPr>
        <p:spPr>
          <a:xfrm>
            <a:off x="4681728" y="4058367"/>
            <a:ext cx="1097280" cy="502920"/>
          </a:xfrm>
          <a:prstGeom prst="rect">
            <a:avLst/>
          </a:prstGeom>
          <a:solidFill>
            <a:srgbClr val="2A508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4058367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=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pred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779008" y="4277823"/>
            <a:ext cx="146304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2" name="Shape 40"/>
          <p:cNvSpPr/>
          <p:nvPr/>
        </p:nvSpPr>
        <p:spPr>
          <a:xfrm>
            <a:off x="5925312" y="4058367"/>
            <a:ext cx="1097280" cy="502920"/>
          </a:xfrm>
          <a:prstGeom prst="rect">
            <a:avLst/>
          </a:prstGeom>
          <a:solidFill>
            <a:srgbClr val="2A508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4058367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crear_etiqueta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_chollo()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022592" y="4277823"/>
            <a:ext cx="146304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5" name="Shape 43"/>
          <p:cNvSpPr/>
          <p:nvPr/>
        </p:nvSpPr>
        <p:spPr>
          <a:xfrm>
            <a:off x="7168896" y="4058367"/>
            <a:ext cx="1097280" cy="502920"/>
          </a:xfrm>
          <a:prstGeom prst="rect">
            <a:avLst/>
          </a:prstGeom>
          <a:solidFill>
            <a:srgbClr val="1F5C4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68896" y="4058367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(0–4)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02336" y="4607007"/>
            <a:ext cx="8229600" cy="256032"/>
          </a:xfrm>
          <a:prstGeom prst="rect">
            <a:avLst/>
          </a:prstGeom>
          <a:solidFill>
            <a:srgbClr val="1F5C40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" y="4607007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modelo de regresión sobre X_test (una sola vez): R², MAE, RMSE  ·  joblib guarda modelo + scalers para producción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02336" y="489961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741664" y="4858331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Aplicación Web · Streamlit · Arquitectura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onsolas" pitchFamily="34" charset="0"/>
              </a:rPr>
              <a:t>App/run.py  →  streamlit run App/main.py  ·  múltiples módulos especializados</a:t>
            </a:r>
          </a:p>
        </p:txBody>
      </p:sp>
      <p:sp>
        <p:nvSpPr>
          <p:cNvPr id="5" name="LblMod"/>
          <p:cNvSpPr/>
          <p:nvPr/>
        </p:nvSpPr>
        <p:spPr>
          <a:xfrm>
            <a:off x="182880" y="868680"/>
            <a:ext cx="4298640" cy="22860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📁  Estructura de la App  (TFG_Chollos/App/)</a:t>
            </a:r>
          </a:p>
        </p:txBody>
      </p:sp>
      <p:sp>
        <p:nvSpPr>
          <p:cNvPr id="10" name="Mod0"/>
          <p:cNvSpPr/>
          <p:nvPr/>
        </p:nvSpPr>
        <p:spPr>
          <a:xfrm>
            <a:off x="182880" y="109728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1F5C40"/>
                </a:solidFill>
                <a:latin typeface="Consolas" pitchFamily="34" charset="0"/>
              </a:rPr>
              <a:t>main.py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Página principal: mapa corofético + gráficos de análisis</a:t>
            </a:r>
          </a:p>
        </p:txBody>
      </p:sp>
      <p:sp>
        <p:nvSpPr>
          <p:cNvPr id="11" name="Mod1"/>
          <p:cNvSpPr/>
          <p:nvPr/>
        </p:nvSpPr>
        <p:spPr>
          <a:xfrm>
            <a:off x="182880" y="164592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1A4A8C"/>
                </a:solidFill>
                <a:latin typeface="Consolas" pitchFamily="34" charset="0"/>
              </a:rPr>
              <a:t>pages/Busqueda.py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Página de búsqueda: formulario + 16 filtros + resultados</a:t>
            </a:r>
          </a:p>
        </p:txBody>
      </p:sp>
      <p:sp>
        <p:nvSpPr>
          <p:cNvPr id="12" name="Mod2"/>
          <p:cNvSpPr/>
          <p:nvPr/>
        </p:nvSpPr>
        <p:spPr>
          <a:xfrm>
            <a:off x="182880" y="219456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5C3A1E"/>
                </a:solidFill>
                <a:latin typeface="Consolas" pitchFamily="34" charset="0"/>
              </a:rPr>
              <a:t>_scraper_app.py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Scraping async (Playwright) + BookingExtractor (ThreadPool)</a:t>
            </a:r>
          </a:p>
        </p:txBody>
      </p:sp>
      <p:sp>
        <p:nvSpPr>
          <p:cNvPr id="13" name="Mod3"/>
          <p:cNvSpPr/>
          <p:nvPr/>
        </p:nvSpPr>
        <p:spPr>
          <a:xfrm>
            <a:off x="182880" y="274320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4A1A6B"/>
                </a:solidFill>
                <a:latin typeface="Consolas" pitchFamily="34" charset="0"/>
              </a:rPr>
              <a:t>_feature_engineering.py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preprocesar_nuevos() + codificar_nuevos() con encoders guardados</a:t>
            </a:r>
          </a:p>
        </p:txBody>
      </p:sp>
      <p:sp>
        <p:nvSpPr>
          <p:cNvPr id="14" name="Mod4"/>
          <p:cNvSpPr/>
          <p:nvPr/>
        </p:nvSpPr>
        <p:spPr>
          <a:xfrm>
            <a:off x="182880" y="329184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1A5C5C"/>
                </a:solidFill>
                <a:latin typeface="Consolas" pitchFamily="34" charset="0"/>
              </a:rPr>
              <a:t>_predictor.py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cargar_modelos() + predecir_nuevos() + mostrar_resultados()</a:t>
            </a:r>
          </a:p>
        </p:txBody>
      </p:sp>
      <p:sp>
        <p:nvSpPr>
          <p:cNvPr id="15" name="Mod5"/>
          <p:cNvSpPr/>
          <p:nvPr/>
        </p:nvSpPr>
        <p:spPr>
          <a:xfrm>
            <a:off x="182880" y="384048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2C4A1A"/>
                </a:solidFill>
                <a:latin typeface="Consolas" pitchFamily="34" charset="0"/>
              </a:rPr>
              <a:t>run.py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Lanzador: subprocess.run([streamlit, run, App/main.py])</a:t>
            </a:r>
          </a:p>
        </p:txBody>
      </p:sp>
      <p:sp>
        <p:nvSpPr>
          <p:cNvPr id="20" name="LblFlujo"/>
          <p:cNvSpPr/>
          <p:nvPr/>
        </p:nvSpPr>
        <p:spPr>
          <a:xfrm>
            <a:off x="4663440" y="868680"/>
            <a:ext cx="4298640" cy="22860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🔁  Flujo real (Busqueda.py)</a:t>
            </a:r>
          </a:p>
        </p:txBody>
      </p:sp>
      <p:sp>
        <p:nvSpPr>
          <p:cNvPr id="30" name="Step0"/>
          <p:cNvSpPr/>
          <p:nvPr/>
        </p:nvSpPr>
        <p:spPr>
          <a:xfrm>
            <a:off x="4663440" y="1097280"/>
            <a:ext cx="274320" cy="50292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0" tIns="9144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40" name="StepTxt0"/>
          <p:cNvSpPr/>
          <p:nvPr/>
        </p:nvSpPr>
        <p:spPr>
          <a:xfrm>
            <a:off x="4937760" y="1097280"/>
            <a:ext cx="402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2A5080"/>
                </a:solidFill>
                <a:latin typeface="Calibri" pitchFamily="34" charset="0"/>
              </a:rPr>
              <a:t>Formulario usuario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374151"/>
                </a:solidFill>
                <a:latin typeface="Calibri" pitchFamily="34" charset="0"/>
              </a:rPr>
              <a:t>Provincia/localidad, fechas, tipo, 16 filtros (piscina, spa, mascotas, desayuno...)</a:t>
            </a:r>
          </a:p>
        </p:txBody>
      </p:sp>
      <p:sp>
        <p:nvSpPr>
          <p:cNvPr id="31" name="Step1"/>
          <p:cNvSpPr/>
          <p:nvPr/>
        </p:nvSpPr>
        <p:spPr>
          <a:xfrm>
            <a:off x="4663440" y="1645920"/>
            <a:ext cx="274320" cy="502920"/>
          </a:xfrm>
          <a:prstGeom prst="rect">
            <a:avLst/>
          </a:prstGeom>
          <a:solidFill>
            <a:srgbClr val="5C3A1E"/>
          </a:solidFill>
          <a:ln/>
        </p:spPr>
        <p:txBody>
          <a:bodyPr wrap="square" lIns="0" tIns="9144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41" name="StepTxt1"/>
          <p:cNvSpPr/>
          <p:nvPr/>
        </p:nvSpPr>
        <p:spPr>
          <a:xfrm>
            <a:off x="4937760" y="1645920"/>
            <a:ext cx="402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5C3A1E"/>
                </a:solidFill>
                <a:latin typeface="Calibri" pitchFamily="34" charset="0"/>
              </a:rPr>
              <a:t>scrape_busqueda()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374151"/>
                </a:solidFill>
                <a:latin typeface="Calibri" pitchFamily="34" charset="0"/>
              </a:rPr>
              <a:t>Playwright async → listado Booking + BookingExtractor → fichas detalle (max 25 por lugar)</a:t>
            </a:r>
          </a:p>
        </p:txBody>
      </p:sp>
      <p:sp>
        <p:nvSpPr>
          <p:cNvPr id="32" name="Step2"/>
          <p:cNvSpPr/>
          <p:nvPr/>
        </p:nvSpPr>
        <p:spPr>
          <a:xfrm>
            <a:off x="4663440" y="2194560"/>
            <a:ext cx="274320" cy="502920"/>
          </a:xfrm>
          <a:prstGeom prst="rect">
            <a:avLst/>
          </a:prstGeom>
          <a:solidFill>
            <a:srgbClr val="4A1A6B"/>
          </a:solidFill>
          <a:ln/>
        </p:spPr>
        <p:txBody>
          <a:bodyPr wrap="square" lIns="0" tIns="9144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42" name="StepTxt2"/>
          <p:cNvSpPr/>
          <p:nvPr/>
        </p:nvSpPr>
        <p:spPr>
          <a:xfrm>
            <a:off x="4937760" y="2194560"/>
            <a:ext cx="402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4A1A6B"/>
                </a:solidFill>
                <a:latin typeface="Calibri" pitchFamily="34" charset="0"/>
              </a:rPr>
              <a:t>preprocesar_nuevos()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374151"/>
                </a:solidFill>
                <a:latin typeface="Calibri" pitchFamily="34" charset="0"/>
              </a:rPr>
              <a:t>Extrae servicios, distancia Haversine, es_finde, dias_restantes... Igual que preprocessing.py</a:t>
            </a:r>
          </a:p>
        </p:txBody>
      </p:sp>
      <p:sp>
        <p:nvSpPr>
          <p:cNvPr id="33" name="Step3"/>
          <p:cNvSpPr/>
          <p:nvPr/>
        </p:nvSpPr>
        <p:spPr>
          <a:xfrm>
            <a:off x="4663440" y="2743200"/>
            <a:ext cx="274320" cy="502920"/>
          </a:xfrm>
          <a:prstGeom prst="rect">
            <a:avLst/>
          </a:prstGeom>
          <a:solidFill>
            <a:srgbClr val="1A4A8C"/>
          </a:solidFill>
          <a:ln/>
        </p:spPr>
        <p:txBody>
          <a:bodyPr wrap="square" lIns="0" tIns="9144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43" name="StepTxt3"/>
          <p:cNvSpPr/>
          <p:nvPr/>
        </p:nvSpPr>
        <p:spPr>
          <a:xfrm>
            <a:off x="4937760" y="2743200"/>
            <a:ext cx="402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1A4A8C"/>
                </a:solidFill>
                <a:latin typeface="Calibri" pitchFamily="34" charset="0"/>
              </a:rPr>
              <a:t>codificar_nuevos()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374151"/>
                </a:solidFill>
                <a:latin typeface="Calibri" pitchFamily="34" charset="0"/>
              </a:rPr>
              <a:t>Aplica le_localidad.pkl + le_provincia.pkl + columnas_modelo.pkl guardados en training</a:t>
            </a:r>
          </a:p>
        </p:txBody>
      </p:sp>
      <p:sp>
        <p:nvSpPr>
          <p:cNvPr id="34" name="Step4"/>
          <p:cNvSpPr/>
          <p:nvPr/>
        </p:nvSpPr>
        <p:spPr>
          <a:xfrm>
            <a:off x="4663440" y="3291840"/>
            <a:ext cx="274320" cy="50292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0" tIns="9144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44" name="StepTxt4"/>
          <p:cNvSpPr/>
          <p:nvPr/>
        </p:nvSpPr>
        <p:spPr>
          <a:xfrm>
            <a:off x="4937760" y="3291840"/>
            <a:ext cx="402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1F5C40"/>
                </a:solidFill>
                <a:latin typeface="Calibri" pitchFamily="34" charset="0"/>
              </a:rPr>
              <a:t>predecir_nuevos()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374151"/>
                </a:solidFill>
                <a:latin typeface="Calibri" pitchFamily="34" charset="0"/>
              </a:rPr>
              <a:t>bosque_aleatorio_reg.pkl → y_pred × n_noches → crear_etiqueta_chollo() → categoría</a:t>
            </a:r>
          </a:p>
        </p:txBody>
      </p:sp>
      <p:sp>
        <p:nvSpPr>
          <p:cNvPr id="35" name="Step5"/>
          <p:cNvSpPr/>
          <p:nvPr/>
        </p:nvSpPr>
        <p:spPr>
          <a:xfrm>
            <a:off x="4663440" y="3840480"/>
            <a:ext cx="274320" cy="50292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0" tIns="9144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45" name="StepTxt5"/>
          <p:cNvSpPr/>
          <p:nvPr/>
        </p:nvSpPr>
        <p:spPr>
          <a:xfrm>
            <a:off x="4937760" y="3840480"/>
            <a:ext cx="402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1A2E4A"/>
                </a:solidFill>
                <a:latin typeface="Calibri" pitchFamily="34" charset="0"/>
              </a:rPr>
              <a:t>mostrar_resultados()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374151"/>
                </a:solidFill>
                <a:latin typeface="Calibri" pitchFamily="34" charset="0"/>
              </a:rPr>
              <a:t>st.dataframe() ordenado por ahorro + gráfico pie de categorías con plotly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4A6080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5946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4A608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Hd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Conclusiones y Trabajo Futuro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F0C060"/>
                </a:solidFill>
                <a:latin typeface="Calibri" pitchFamily="34" charset="0"/>
              </a:rPr>
              <a:t>Reflexiones finales sobre el proyecto</a:t>
            </a:r>
          </a:p>
        </p:txBody>
      </p:sp>
      <p:sp>
        <p:nvSpPr>
          <p:cNvPr id="10" name="Card0"/>
          <p:cNvSpPr/>
          <p:nvPr/>
        </p:nvSpPr>
        <p:spPr>
          <a:xfrm>
            <a:off x="182880" y="948960"/>
            <a:ext cx="4389120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0" name="Bar0"/>
          <p:cNvSpPr/>
          <p:nvPr/>
        </p:nvSpPr>
        <p:spPr>
          <a:xfrm>
            <a:off x="182880" y="948960"/>
            <a:ext cx="54864" cy="1463040"/>
          </a:xfrm>
          <a:prstGeom prst="rect">
            <a:avLst/>
          </a:prstGeom>
          <a:solidFill>
            <a:srgbClr val="1F5C40"/>
          </a:solidFill>
          <a:ln/>
        </p:spPr>
      </p:sp>
      <p:sp>
        <p:nvSpPr>
          <p:cNvPr id="60" name="Num0"/>
          <p:cNvSpPr/>
          <p:nvPr/>
        </p:nvSpPr>
        <p:spPr>
          <a:xfrm>
            <a:off x="256320" y="1003824"/>
            <a:ext cx="365760" cy="36576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70" name="CTitle0"/>
          <p:cNvSpPr/>
          <p:nvPr/>
        </p:nvSpPr>
        <p:spPr>
          <a:xfrm>
            <a:off x="685800" y="102240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D4A843"/>
                </a:solidFill>
                <a:latin typeface="Calibri" pitchFamily="34" charset="0"/>
              </a:rPr>
              <a:t>El precio “justo” es predecible</a:t>
            </a:r>
          </a:p>
        </p:txBody>
      </p:sp>
      <p:sp>
        <p:nvSpPr>
          <p:cNvPr id="80" name="CBody0"/>
          <p:cNvSpPr/>
          <p:nvPr/>
        </p:nvSpPr>
        <p:spPr>
          <a:xfrm>
            <a:off x="274320" y="1406160"/>
            <a:ext cx="420624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El Bosque Aleatorio explica el 87,8 % de la varianza del precio (R² = 0.8779) con un error medio de ±19,45 €. El precio de un alojamiento no es aleatorio: depende fundamentalmente del tamaño, la ubicación y la temporalidad.</a:t>
            </a:r>
          </a:p>
        </p:txBody>
      </p:sp>
      <p:sp>
        <p:nvSpPr>
          <p:cNvPr id="11" name="Card1"/>
          <p:cNvSpPr/>
          <p:nvPr/>
        </p:nvSpPr>
        <p:spPr>
          <a:xfrm>
            <a:off x="4663440" y="948960"/>
            <a:ext cx="4389120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1" name="Bar1"/>
          <p:cNvSpPr/>
          <p:nvPr/>
        </p:nvSpPr>
        <p:spPr>
          <a:xfrm>
            <a:off x="4663440" y="948960"/>
            <a:ext cx="54864" cy="1463040"/>
          </a:xfrm>
          <a:prstGeom prst="rect">
            <a:avLst/>
          </a:prstGeom>
          <a:solidFill>
            <a:srgbClr val="1A4A8C"/>
          </a:solidFill>
          <a:ln/>
        </p:spPr>
      </p:sp>
      <p:sp>
        <p:nvSpPr>
          <p:cNvPr id="61" name="Num1"/>
          <p:cNvSpPr/>
          <p:nvPr/>
        </p:nvSpPr>
        <p:spPr>
          <a:xfrm>
            <a:off x="4736880" y="1003824"/>
            <a:ext cx="365760" cy="365760"/>
          </a:xfrm>
          <a:prstGeom prst="rect">
            <a:avLst/>
          </a:prstGeom>
          <a:solidFill>
            <a:srgbClr val="1A4A8C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71" name="CTitle1"/>
          <p:cNvSpPr/>
          <p:nvPr/>
        </p:nvSpPr>
        <p:spPr>
          <a:xfrm>
            <a:off x="5166360" y="102240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D4A843"/>
                </a:solidFill>
                <a:latin typeface="Calibri" pitchFamily="34" charset="0"/>
              </a:rPr>
              <a:t>Casi 1 de cada 2 alojamientos es un chollo</a:t>
            </a:r>
          </a:p>
        </p:txBody>
      </p:sp>
      <p:sp>
        <p:nvSpPr>
          <p:cNvPr id="81" name="CBody1"/>
          <p:cNvSpPr/>
          <p:nvPr/>
        </p:nvSpPr>
        <p:spPr>
          <a:xfrm>
            <a:off x="4754880" y="1406160"/>
            <a:ext cx="420624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El 49,9 % de los alojamientos del conjunto de test tienen un precio inferior al predicho. Booking.com tiene una variabilidad de precios real que el usuario no puede percibir sin apoyo de ML.</a:t>
            </a:r>
          </a:p>
        </p:txBody>
      </p:sp>
      <p:sp>
        <p:nvSpPr>
          <p:cNvPr id="12" name="Card2"/>
          <p:cNvSpPr/>
          <p:nvPr/>
        </p:nvSpPr>
        <p:spPr>
          <a:xfrm>
            <a:off x="182880" y="2560080"/>
            <a:ext cx="4389120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2" name="Bar2"/>
          <p:cNvSpPr/>
          <p:nvPr/>
        </p:nvSpPr>
        <p:spPr>
          <a:xfrm>
            <a:off x="182880" y="2560080"/>
            <a:ext cx="54864" cy="1463040"/>
          </a:xfrm>
          <a:prstGeom prst="rect">
            <a:avLst/>
          </a:prstGeom>
          <a:solidFill>
            <a:srgbClr val="7B341E"/>
          </a:solidFill>
          <a:ln/>
        </p:spPr>
      </p:sp>
      <p:sp>
        <p:nvSpPr>
          <p:cNvPr id="62" name="Num2"/>
          <p:cNvSpPr/>
          <p:nvPr/>
        </p:nvSpPr>
        <p:spPr>
          <a:xfrm>
            <a:off x="256320" y="2614944"/>
            <a:ext cx="365760" cy="365760"/>
          </a:xfrm>
          <a:prstGeom prst="rect">
            <a:avLst/>
          </a:prstGeom>
          <a:solidFill>
            <a:srgbClr val="7B341E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72" name="CTitle2"/>
          <p:cNvSpPr/>
          <p:nvPr/>
        </p:nvSpPr>
        <p:spPr>
          <a:xfrm>
            <a:off x="685800" y="263352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D4A843"/>
                </a:solidFill>
                <a:latin typeface="Calibri" pitchFamily="34" charset="0"/>
              </a:rPr>
              <a:t>La calidad del dato importa más que el modelo</a:t>
            </a:r>
          </a:p>
        </p:txBody>
      </p:sp>
      <p:sp>
        <p:nvSpPr>
          <p:cNvPr id="82" name="CBody2"/>
          <p:cNvSpPr/>
          <p:nvPr/>
        </p:nvSpPr>
        <p:spPr>
          <a:xfrm>
            <a:off x="274320" y="3017280"/>
            <a:ext cx="420624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El scraping en 2 fases, la geocodificación, la extracción de servicios binarios y la gestión de outliers fueron más determinantes para el resultado final que la elección del algoritmo.</a:t>
            </a:r>
          </a:p>
        </p:txBody>
      </p:sp>
      <p:sp>
        <p:nvSpPr>
          <p:cNvPr id="13" name="Card3"/>
          <p:cNvSpPr/>
          <p:nvPr/>
        </p:nvSpPr>
        <p:spPr>
          <a:xfrm>
            <a:off x="4663440" y="2560080"/>
            <a:ext cx="4389120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3" name="Bar3"/>
          <p:cNvSpPr/>
          <p:nvPr/>
        </p:nvSpPr>
        <p:spPr>
          <a:xfrm>
            <a:off x="4663440" y="2560080"/>
            <a:ext cx="54864" cy="1463040"/>
          </a:xfrm>
          <a:prstGeom prst="rect">
            <a:avLst/>
          </a:prstGeom>
          <a:solidFill>
            <a:srgbClr val="4A1A6B"/>
          </a:solidFill>
          <a:ln/>
        </p:spPr>
      </p:sp>
      <p:sp>
        <p:nvSpPr>
          <p:cNvPr id="63" name="Num3"/>
          <p:cNvSpPr/>
          <p:nvPr/>
        </p:nvSpPr>
        <p:spPr>
          <a:xfrm>
            <a:off x="4736880" y="2614944"/>
            <a:ext cx="365760" cy="365760"/>
          </a:xfrm>
          <a:prstGeom prst="rect">
            <a:avLst/>
          </a:prstGeom>
          <a:solidFill>
            <a:srgbClr val="4A1A6B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73" name="CTitle3"/>
          <p:cNvSpPr/>
          <p:nvPr/>
        </p:nvSpPr>
        <p:spPr>
          <a:xfrm>
            <a:off x="5166360" y="263352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D4A843"/>
                </a:solidFill>
                <a:latin typeface="Calibri" pitchFamily="34" charset="0"/>
              </a:rPr>
              <a:t>Un sistema end-to-end es más que la suma de sus partes</a:t>
            </a:r>
          </a:p>
        </p:txBody>
      </p:sp>
      <p:sp>
        <p:nvSpPr>
          <p:cNvPr id="83" name="CBody3"/>
          <p:cNvSpPr/>
          <p:nvPr/>
        </p:nvSpPr>
        <p:spPr>
          <a:xfrm>
            <a:off x="4754880" y="3017280"/>
            <a:ext cx="420624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Conectar scraping → preprocesamiento → modelización → app web en un único sistema reproducible es el verdadero reto de ingeniería. El modelo solo funciona si todos los eslabónes están bien alineados.</a:t>
            </a:r>
          </a:p>
        </p:txBody>
      </p:sp>
      <p:sp>
        <p:nvSpPr>
          <p:cNvPr id="30" name="FutLbl"/>
          <p:cNvSpPr/>
          <p:nvPr/>
        </p:nvSpPr>
        <p:spPr>
          <a:xfrm>
            <a:off x="182880" y="4097400"/>
            <a:ext cx="8778240" cy="22860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🔭  Líneas de trabajo futuro</a:t>
            </a:r>
          </a:p>
        </p:txBody>
      </p:sp>
      <p:sp>
        <p:nvSpPr>
          <p:cNvPr id="40" name="Fut0"/>
          <p:cNvSpPr/>
          <p:nvPr/>
        </p:nvSpPr>
        <p:spPr>
          <a:xfrm>
            <a:off x="182880" y="4371480"/>
            <a:ext cx="2184840" cy="365760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→  Despliegue Streamlit Cloud</a:t>
            </a:r>
          </a:p>
        </p:txBody>
      </p:sp>
      <p:sp>
        <p:nvSpPr>
          <p:cNvPr id="41" name="Fut1"/>
          <p:cNvSpPr/>
          <p:nvPr/>
        </p:nvSpPr>
        <p:spPr>
          <a:xfrm>
            <a:off x="2377440" y="4371480"/>
            <a:ext cx="2184840" cy="365760"/>
          </a:xfrm>
          <a:prstGeom prst="rect">
            <a:avLst/>
          </a:prstGeom>
          <a:solidFill>
            <a:srgbClr val="1E3A5F"/>
          </a:solidFill>
          <a:ln>
            <a:solidFill>
              <a:srgbClr val="1F5C4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→  ML no supervisado</a:t>
            </a:r>
          </a:p>
        </p:txBody>
      </p:sp>
      <p:sp>
        <p:nvSpPr>
          <p:cNvPr id="42" name="Fut2"/>
          <p:cNvSpPr/>
          <p:nvPr/>
        </p:nvSpPr>
        <p:spPr>
          <a:xfrm>
            <a:off x="4572000" y="4371480"/>
            <a:ext cx="2184840" cy="365760"/>
          </a:xfrm>
          <a:prstGeom prst="rect">
            <a:avLst/>
          </a:prstGeom>
          <a:solidFill>
            <a:srgbClr val="1E3A5F"/>
          </a:solidFill>
          <a:ln>
            <a:solidFill>
              <a:srgbClr val="5C3A1E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→  Ampliar a Airbnb / Idealista</a:t>
            </a:r>
          </a:p>
        </p:txBody>
      </p:sp>
      <p:sp>
        <p:nvSpPr>
          <p:cNvPr id="43" name="Fut3"/>
          <p:cNvSpPr/>
          <p:nvPr/>
        </p:nvSpPr>
        <p:spPr>
          <a:xfrm>
            <a:off x="6766560" y="4371480"/>
            <a:ext cx="2184840" cy="365760"/>
          </a:xfrm>
          <a:prstGeom prst="rect">
            <a:avLst/>
          </a:prstGeom>
          <a:solidFill>
            <a:srgbClr val="1E3A5F"/>
          </a:solidFill>
          <a:ln>
            <a:solidFill>
              <a:srgbClr val="4A1A6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→  Alertas automáticas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4A6080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5946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CBD5E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280160"/>
            <a:ext cx="27432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Chollos en Alojamientos Turísticos de Andalucía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Jiménez · Trabajo de Fin de Grado · Universidad de Sevilla · 2025–2026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3493008"/>
            <a:ext cx="3108960" cy="347472"/>
          </a:xfrm>
          <a:prstGeom prst="rect">
            <a:avLst/>
          </a:prstGeom>
          <a:solidFill>
            <a:srgbClr val="2A50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3493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github.com/Marjimleo3/TFG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6003</Words>
  <Application>Microsoft Office PowerPoint</Application>
  <PresentationFormat>Presentación en pantalla (16:9)</PresentationFormat>
  <Paragraphs>791</Paragraphs>
  <Slides>24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Detector de Chollos en Alojamientos de Andalucía</dc:title>
  <dc:subject>PptxGenJS Presentation</dc:subject>
  <dc:creator>Mario Jiménez</dc:creator>
  <cp:lastModifiedBy>Mario Jimenez</cp:lastModifiedBy>
  <cp:revision>60</cp:revision>
  <dcterms:created xsi:type="dcterms:W3CDTF">2026-06-02T13:35:16Z</dcterms:created>
  <dcterms:modified xsi:type="dcterms:W3CDTF">2026-06-12T09:16:54Z</dcterms:modified>
</cp:coreProperties>
</file>