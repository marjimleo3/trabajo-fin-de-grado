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9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3B6E77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32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valoracion_clientes</c:v>
                </c:pt>
                <c:pt idx="1">
                  <c:v>dias_restantes</c:v>
                </c:pt>
                <c:pt idx="2">
                  <c:v>localidad</c:v>
                </c:pt>
                <c:pt idx="3">
                  <c:v>n_valoraciones</c:v>
                </c:pt>
                <c:pt idx="4">
                  <c:v>tamaño_habitacion</c:v>
                </c:pt>
                <c:pt idx="5">
                  <c:v>distancia_centro_km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8.4000000000000005E-2</c:v>
                </c:pt>
                <c:pt idx="1">
                  <c:v>9.0999999999999998E-2</c:v>
                </c:pt>
                <c:pt idx="2">
                  <c:v>0.113</c:v>
                </c:pt>
                <c:pt idx="3">
                  <c:v>0.11899999999999999</c:v>
                </c:pt>
                <c:pt idx="4">
                  <c:v>0.155</c:v>
                </c:pt>
                <c:pt idx="5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8-40FB-8D55-342BF721F8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F68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8"/>
          <c:min val="0"/>
        </c:scaling>
        <c:delete val="0"/>
        <c:axPos val="b"/>
        <c:majorGridlines>
          <c:spPr>
            <a:ln w="6350" cap="flat">
              <a:solidFill>
                <a:srgbClr val="E7DD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F68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Categorías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1D-45FC-9F42-CB84D4A6B1A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1D-45FC-9F42-CB84D4A6B1A1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D1D-45FC-9F42-CB84D4A6B1A1}"/>
              </c:ext>
            </c:extLst>
          </c:dPt>
          <c:dPt>
            <c:idx val="3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D1D-45FC-9F42-CB84D4A6B1A1}"/>
              </c:ext>
            </c:extLst>
          </c:dPt>
          <c:dPt>
            <c:idx val="4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D1D-45FC-9F42-CB84D4A6B1A1}"/>
              </c:ext>
            </c:extLst>
          </c:dPt>
          <c:dLbls>
            <c:dLbl>
              <c:idx val="0"/>
              <c:layout>
                <c:manualLayout>
                  <c:x val="-0.16372929549060605"/>
                  <c:y val="0.12350978449122431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1D-45FC-9F42-CB84D4A6B1A1}"/>
                </c:ext>
              </c:extLst>
            </c:dLbl>
            <c:dLbl>
              <c:idx val="1"/>
              <c:layout>
                <c:manualLayout>
                  <c:x val="-0.12574069131189111"/>
                  <c:y val="-0.2152708589997678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1D-45FC-9F42-CB84D4A6B1A1}"/>
                </c:ext>
              </c:extLst>
            </c:dLbl>
            <c:dLbl>
              <c:idx val="2"/>
              <c:layout>
                <c:manualLayout>
                  <c:x val="0.20319557512938002"/>
                  <c:y val="-6.4516935383077109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1D-45FC-9F42-CB84D4A6B1A1}"/>
                </c:ext>
              </c:extLst>
            </c:dLbl>
            <c:dLbl>
              <c:idx val="3"/>
              <c:layout>
                <c:manualLayout>
                  <c:x val="0.11863294630544063"/>
                  <c:y val="0.136576901101648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1D-45FC-9F42-CB84D4A6B1A1}"/>
                </c:ext>
              </c:extLst>
            </c:dLbl>
            <c:dLbl>
              <c:idx val="4"/>
              <c:layout>
                <c:manualLayout>
                  <c:x val="5.6119971232409506E-2"/>
                  <c:y val="0.15093537414965985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1D-45FC-9F42-CB84D4A6B1A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Inflado</c:v>
                </c:pt>
                <c:pt idx="1">
                  <c:v>Normal</c:v>
                </c:pt>
                <c:pt idx="2">
                  <c:v>Chollo</c:v>
                </c:pt>
                <c:pt idx="3">
                  <c:v>Super-Chollo</c:v>
                </c:pt>
                <c:pt idx="4">
                  <c:v>Hiper-Chollo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26.4</c:v>
                </c:pt>
                <c:pt idx="1">
                  <c:v>32.1</c:v>
                </c:pt>
                <c:pt idx="2">
                  <c:v>24.7</c:v>
                </c:pt>
                <c:pt idx="3">
                  <c:v>9.1999999999999993</c:v>
                </c:pt>
                <c:pt idx="4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1D-45FC-9F42-CB84D4A6B1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44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hyperlink" Target="https://drive.google.com/file/d/1d6nnNk5mmww6znMj6zvbsHLi9W0LgyeT/view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qnnwjgaf3t5xesuorvizo.streamlit.app" TargetMode="External"/><Relationship Id="rId5" Type="http://schemas.openxmlformats.org/officeDocument/2006/relationships/image" Target="../media/image43.png"/><Relationship Id="rId4" Type="http://schemas.openxmlformats.org/officeDocument/2006/relationships/hyperlink" Target="https://github.com/Marjimleo3/Trabajo-Fin-de-Gra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 · GRADO EN ESTADÍSTICA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Alojamientos Turísticos con Precio Real Inferior al Valor Predicho según Preferencias del Usuario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aprendizaje automático de extremo a extremo para identificar oportunidades reales de precio en el mercado turístico andaluz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León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Tutorizado por David Orellana Martín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Sevilla  ·  Curso 2025/2026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363252" y="5623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 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github.com/Marjimleo3/Trabajo-Fin-de-Grado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 </a:t>
            </a: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uqnnwjgaf3t5xesuorvizo.streamlit.app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4859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2631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0403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8176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5948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16736" y="53721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trabajo futuro</a:t>
            </a:r>
            <a:endParaRPr lang="en-US" sz="1650" dirty="0"/>
          </a:p>
        </p:txBody>
      </p:sp>
      <p:pic>
        <p:nvPicPr>
          <p:cNvPr id="31" name="Picture 30" descr="inf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0020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es un pilar de la economía española y Andalucía destaca por su patrimonio y la diversidad de su oferta de alojamiento.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de reserva online (OTA) aplican precio dinámico: la tarifa fluctúa según la demanda, la estacionalidad y la antelación de la reserva.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complejidad dificulta saber si el precio mostrado en pantalla es realmente competitivo.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oportunidades de forma sistemática escapa a la búsqueda manual, pero es abordable con aprendizaje automático.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6640" y="16002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543800" y="1709928"/>
            <a:ext cx="3931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85M+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543800" y="2450592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internacionales recibidos por España en 2023 (INE)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3804248"/>
            <a:ext cx="4206240" cy="1828801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937505"/>
            <a:ext cx="457200" cy="35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4380206"/>
            <a:ext cx="3749040" cy="133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«Chollo»: </a:t>
            </a: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alojamiento cuyo precio se sitúa notablemente por debajo de lo esperado según sus características objetivas (ubicación, estrellas, valoraciones, servicios…).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evaluar un sistema integral capaz de detectar, en Andalucía, alojamientos turísticos con precio real inferior al valor predicho.</a:t>
            </a:r>
            <a:endParaRPr lang="en-US" sz="1450" dirty="0"/>
          </a:p>
        </p:txBody>
      </p:sp>
      <p:sp>
        <p:nvSpPr>
          <p:cNvPr id="44" name="Shape 5"/>
          <p:cNvSpPr/>
          <p:nvPr/>
        </p:nvSpPr>
        <p:spPr>
          <a:xfrm>
            <a:off x="777240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6"/>
          <p:cNvSpPr/>
          <p:nvPr/>
        </p:nvSpPr>
        <p:spPr>
          <a:xfrm>
            <a:off x="1307592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2930393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(Selenium + Playwright)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350008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574036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3104388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972" y="2930393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47188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146804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370832" y="2665217"/>
            <a:ext cx="1572768" cy="211916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4901184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930393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43984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943600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167628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6697980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564" y="2930393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40780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modelos + CV)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740396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964424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2"/>
          <p:cNvSpPr/>
          <p:nvPr/>
        </p:nvSpPr>
        <p:spPr>
          <a:xfrm>
            <a:off x="8494776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2930393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37576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9537192" y="3488177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9761220" y="2665217"/>
            <a:ext cx="1572768" cy="212173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6"/>
          <p:cNvSpPr/>
          <p:nvPr/>
        </p:nvSpPr>
        <p:spPr>
          <a:xfrm>
            <a:off x="10291572" y="2829809"/>
            <a:ext cx="512064" cy="512064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2156" y="2930393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34372" y="3442457"/>
            <a:ext cx="1426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280160" y="512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sistema reproducible: los codificadores, el escalador y el modelo comparten exactamente el mismo espacio de características entre entrenamiento y producción.</a:t>
            </a:r>
            <a:endParaRPr lang="en-US" sz="1300" dirty="0"/>
          </a:p>
        </p:txBody>
      </p:sp>
      <p:sp>
        <p:nvSpPr>
          <p:cNvPr id="38" name="TextBox 37"/>
          <p:cNvSpPr txBox="1"/>
          <p:nvPr/>
        </p:nvSpPr>
        <p:spPr>
          <a:xfrm>
            <a:off x="850392" y="4228841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>
                <a:solidFill>
                  <a:srgbClr val="7A6F68"/>
                </a:solidFill>
                <a:latin typeface="Calibri"/>
              </a:rPr>
              <a:t>8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provincias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: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precio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tipo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estrellas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servicios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,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coordenadas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47188" y="4235742"/>
            <a:ext cx="142646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Nulos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valores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atípicos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43984" y="4235742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Extracción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de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servicios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variables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derivadas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40780" y="4238315"/>
            <a:ext cx="1426464" cy="438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950" dirty="0">
                <a:solidFill>
                  <a:srgbClr val="7A6F68"/>
                </a:solidFill>
                <a:latin typeface="Calibri"/>
              </a:rPr>
              <a:t>Selección del mejor modelo por v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alidación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cruzada</a:t>
            </a:r>
            <a:r>
              <a:rPr sz="950" dirty="0">
                <a:solidFill>
                  <a:srgbClr val="7A6F68"/>
                </a:solidFill>
                <a:latin typeface="Calibri"/>
              </a:rPr>
              <a:t> y conjunto de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prueba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37576" y="4238315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Cociente</a:t>
            </a:r>
            <a:r>
              <a:rPr sz="950" dirty="0">
                <a:solidFill>
                  <a:srgbClr val="7A6F68"/>
                </a:solidFill>
                <a:latin typeface="Calibri"/>
              </a:rPr>
              <a:t> entre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precio</a:t>
            </a:r>
            <a:r>
              <a:rPr sz="950" dirty="0">
                <a:solidFill>
                  <a:srgbClr val="7A6F68"/>
                </a:solidFill>
                <a:latin typeface="Calibri"/>
              </a:rPr>
              <a:t> real y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predicho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16998" y="4228841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dirty="0" err="1">
                <a:solidFill>
                  <a:srgbClr val="7A6F68"/>
                </a:solidFill>
                <a:latin typeface="Calibri"/>
              </a:rPr>
              <a:t>Preferencias</a:t>
            </a:r>
            <a:r>
              <a:rPr sz="950" dirty="0">
                <a:solidFill>
                  <a:srgbClr val="7A6F68"/>
                </a:solidFill>
                <a:latin typeface="Calibri"/>
              </a:rPr>
              <a:t> →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predicción</a:t>
            </a:r>
            <a:r>
              <a:rPr sz="950" dirty="0">
                <a:solidFill>
                  <a:srgbClr val="7A6F68"/>
                </a:solidFill>
                <a:latin typeface="Calibri"/>
              </a:rPr>
              <a:t> → </a:t>
            </a:r>
            <a:r>
              <a:rPr sz="950" dirty="0" err="1">
                <a:solidFill>
                  <a:srgbClr val="7A6F68"/>
                </a:solidFill>
                <a:latin typeface="Calibri"/>
              </a:rPr>
              <a:t>resultados</a:t>
            </a:r>
            <a:endParaRPr sz="950" dirty="0">
              <a:solidFill>
                <a:srgbClr val="7A6F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INTRODUCCIÓN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y limitaciones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3005443"/>
          </a:xfrm>
          <a:prstGeom prst="roundRect">
            <a:avLst>
              <a:gd name="adj" fmla="val 16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8470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242316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provincias andaluzas: Almería, Cádiz, Córdoba, Granada, Huelva, Jaén, Málaga y Sevilla.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365 días de precios por alojamiento, para maximizar la cobertura del mercado.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predecir el precio de un alojamiento en una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45352" y="1463040"/>
            <a:ext cx="5394960" cy="3695814"/>
          </a:xfrm>
          <a:prstGeom prst="roundRect">
            <a:avLst>
              <a:gd name="adj" fmla="val 16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519672" y="1737360"/>
            <a:ext cx="502920" cy="50292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4708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19672" y="2423160"/>
            <a:ext cx="4892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i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fila,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alojamiento-fecha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las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ligeramente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0,026% de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(674 de 2.603.076) con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días_restantes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-1,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través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Booking.com.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>
              <a:solidFill>
                <a:srgbClr val="2B23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</a:t>
            </a:r>
            <a:r>
              <a:rPr lang="en-US" sz="1300" i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i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codifican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ordinales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dimensionalidad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Recopilación de datos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719072"/>
            <a:ext cx="475488" cy="475488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288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Selenium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general de resultados por provincia: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265176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Localización, título y URL de la ficha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media y número de valoraciones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alojamiento y categoría por estrellas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45352" y="14630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519672" y="1719072"/>
            <a:ext cx="475488" cy="47548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41464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Playwright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9672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 interna (GraphQL) de la plataforma: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19672" y="265176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coordenadas GPS del alojamiento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disponibles y tamaño de la habitación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precios diarios (horizonte de 365 días)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04672" y="5138928"/>
            <a:ext cx="502920" cy="50292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2669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95604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Geocodificación de los centros urbanos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obtenidas mediante la API de Nominatim (OpenStreetMap); la distancia de cada alojamiento se calcula con la fórmula del haversine, vectorizada sobre todo el conjunto de datos.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valores nulos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16736" y="1508070"/>
            <a:ext cx="6591600" cy="1954274"/>
          </a:xfrm>
          <a:prstGeom prst="roundRect">
            <a:avLst>
              <a:gd name="adj" fmla="val 1702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572769" y="173667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C4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de registros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72768" y="2148150"/>
            <a:ext cx="6079207" cy="1125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GPS ausentes: 2,2% de los registros eliminados (imprescindibles para calcular la distancia al centro urbano).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localidad codificada como '9': error de geocodificación detectado manualmente.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52491" y="367436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variable (Tabla 6.1)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66171"/>
              </p:ext>
            </p:extLst>
          </p:nvPr>
        </p:nvGraphicFramePr>
        <p:xfrm>
          <a:off x="3752491" y="4040123"/>
          <a:ext cx="6592236" cy="1954274"/>
        </p:xfrm>
        <a:graphic>
          <a:graphicData uri="http://schemas.openxmlformats.org/drawingml/2006/table">
            <a:tbl>
              <a:tblPr/>
              <a:tblGrid>
                <a:gridCol w="2378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1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imputado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codigo_postal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usa en el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'Otro'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residual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estrellas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(no hotel)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n_valoraciones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Alojamiento nuevo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valoracion_clientes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outliers extremos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tamaño_habitacion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Robusta ante extremos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42131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valores atípicos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" y="608625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710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Tukey 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(precio) y </a:t>
            </a: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fijos de dominio 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(tamaño y distancia), aplicados solo donde un valor extremo indica un error de captura o un segmento ajeno al estudio.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615224"/>
              </p:ext>
            </p:extLst>
          </p:nvPr>
        </p:nvGraphicFramePr>
        <p:xfrm>
          <a:off x="687228" y="2473154"/>
          <a:ext cx="4040613" cy="1539240"/>
        </p:xfrm>
        <a:graphic>
          <a:graphicData uri="http://schemas.openxmlformats.org/drawingml/2006/table">
            <a:tbl>
              <a:tblPr/>
              <a:tblGrid>
                <a:gridCol w="205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eliminados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&gt; 468,5€ (Tukey)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&gt; 150 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&gt; 15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eliminado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520.448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87228" y="4341165"/>
            <a:ext cx="4040612" cy="70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«Otro» (fincas, casas rurales) concentraba tamaños hasta 10.000 m². El umbral de 150 m² conserva hoteles, apartamentos y estudios con un coste de solo el 7% de registros.</a:t>
            </a:r>
            <a:endParaRPr lang="en-US" sz="1200" dirty="0"/>
          </a:p>
        </p:txBody>
      </p:sp>
      <p:pic>
        <p:nvPicPr>
          <p:cNvPr id="11" name="Image 1" descr="C:/Users/usuario/OneDrive/UNI_Mario5/TFG/TFG_Chollos/images/boxplot_pre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559" y="1799959"/>
            <a:ext cx="2743200" cy="18680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69558" y="3600914"/>
            <a:ext cx="29572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por noche (umbral de Tukey: 468,5€)</a:t>
            </a:r>
            <a:endParaRPr lang="en-US" sz="1000" dirty="0"/>
          </a:p>
        </p:txBody>
      </p:sp>
      <p:pic>
        <p:nvPicPr>
          <p:cNvPr id="13" name="Image 2" descr="C:/Users/usuario/OneDrive/UNI_Mario5/TFG/TFG_Chollos/images/boxplot_tamaño_habit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639" y="1799959"/>
            <a:ext cx="2743200" cy="20119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09661" y="3686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habitación por tipo (umbral: 150m²)</a:t>
            </a:r>
            <a:endParaRPr lang="en-US" sz="1000" dirty="0"/>
          </a:p>
        </p:txBody>
      </p:sp>
      <p:pic>
        <p:nvPicPr>
          <p:cNvPr id="15" name="Image 3" descr="C:/Users/usuario/OneDrive/UNI_Mario5/TFG/TFG_Chollos/images/boxplot_distancia_centro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94" y="4173345"/>
            <a:ext cx="2743200" cy="18276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30795" y="595211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— antes (error de geocodificación en Guadalcanal)</a:t>
            </a:r>
            <a:endParaRPr lang="en-US" sz="950" dirty="0"/>
          </a:p>
        </p:txBody>
      </p:sp>
      <p:pic>
        <p:nvPicPr>
          <p:cNvPr id="17" name="Image 4" descr="C:/Users/usuario/OneDrive/UNI_Mario5/TFG/TFG_Chollos/images/boxplot_distancia_centro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880" y="4173345"/>
            <a:ext cx="2743200" cy="182761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687" y="5985172"/>
            <a:ext cx="2506058" cy="518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centro — después (umbral definitivo: 15km)</a:t>
            </a:r>
            <a:endParaRPr lang="en-US" sz="95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256E2FD-D61C-572F-AA4B-BA8AE6304A10}"/>
              </a:ext>
            </a:extLst>
          </p:cNvPr>
          <p:cNvSpPr txBox="1"/>
          <p:nvPr/>
        </p:nvSpPr>
        <p:spPr>
          <a:xfrm>
            <a:off x="8227466" y="4856320"/>
            <a:ext cx="437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características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servicios binarios extraídos por búsqueda de subcadenas en los campos de texto (API)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68296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368296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gratis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87952" y="187452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187952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4864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68296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2368296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87952" y="244144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187952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 interior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48640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 infinita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368296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2368296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acondic.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87952" y="300837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187952" y="30083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Calefacción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48640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368296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2368296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Terraza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87952" y="35753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6EEE8"/>
          </a:solidFill>
          <a:ln w="12700">
            <a:solidFill>
              <a:srgbClr val="E7DD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187952" y="35753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privado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0866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temporales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86600" y="18288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es_finde</a:t>
            </a:r>
            <a:r>
              <a:rPr lang="en-US" sz="1200" b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viernes o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es_domingo</a:t>
            </a:r>
            <a:r>
              <a:rPr lang="en-US" sz="1200" b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dias_restantes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antelación de la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mes_disponible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1200" dirty="0">
              <a:solidFill>
                <a:srgbClr val="7A6F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dia_disponible</a:t>
            </a: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día del mes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51383" y="4368849"/>
            <a:ext cx="11091672" cy="1412144"/>
          </a:xfrm>
          <a:prstGeom prst="roundRect">
            <a:avLst>
              <a:gd name="adj" fmla="val 410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07415" y="455172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variables categóricas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07415" y="4963209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tipo_Hotel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 binario, 1 si es hotel)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</a:t>
            </a: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(ordinal, para no disparar la dimensionalidad).</a:t>
            </a:r>
            <a:r>
              <a:rPr lang="en-US" sz="12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porque el modelo ganador es un ensemble de árboles: puede aislar cualquier localidad mediante particiones binarias sucesivas, sin depender de un orden real.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final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202936" cy="1463040"/>
          </a:xfrm>
          <a:prstGeom prst="roundRect">
            <a:avLst>
              <a:gd name="adj" fmla="val 5000"/>
            </a:avLst>
          </a:prstGeom>
          <a:solidFill>
            <a:schemeClr val="bg1">
              <a:lumMod val="85000"/>
            </a:schemeClr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9" name="Text 6"/>
          <p:cNvSpPr/>
          <p:nvPr/>
        </p:nvSpPr>
        <p:spPr>
          <a:xfrm>
            <a:off x="777240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crudo — Málaga (1 provincia)</a:t>
            </a:r>
            <a:endParaRPr lang="en-US" sz="125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8.871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800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13432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359152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86784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279,7 MB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032504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disco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51576" y="1965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437376" y="1463040"/>
            <a:ext cx="5202936" cy="1463040"/>
          </a:xfrm>
          <a:prstGeom prst="roundRect">
            <a:avLst>
              <a:gd name="adj" fmla="val 50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665976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final — 8 provincias</a:t>
            </a:r>
            <a:endParaRPr lang="en-US" sz="12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28816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2,60M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574536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02168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8247888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875520" y="196596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11,2 MB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921240" y="244144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disco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084168" y="3063240"/>
            <a:ext cx="4023360" cy="438912"/>
          </a:xfrm>
          <a:prstGeom prst="roundRect">
            <a:avLst>
              <a:gd name="adj" fmla="val 50000"/>
            </a:avLst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4084168" y="3063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menos peso  ·  312× más filas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2765"/>
              </p:ext>
            </p:extLst>
          </p:nvPr>
        </p:nvGraphicFramePr>
        <p:xfrm>
          <a:off x="548640" y="4142232"/>
          <a:ext cx="6858000" cy="160020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(€/noche)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Valoración (0-10)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Estrellas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habitación (m²)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centro (km)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7680960" y="4142232"/>
            <a:ext cx="3959352" cy="1737360"/>
          </a:xfrm>
          <a:prstGeom prst="roundRect">
            <a:avLst>
              <a:gd name="adj" fmla="val 3137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9" name="Text 25"/>
          <p:cNvSpPr/>
          <p:nvPr/>
        </p:nvSpPr>
        <p:spPr>
          <a:xfrm>
            <a:off x="7936992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por provincia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936992" y="4627036"/>
            <a:ext cx="3474720" cy="111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Málaga  37,7%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Cádiz  15,8%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Sevilla  13,5%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Granada  12,9%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Córdoba, Almería, Jaén, Huelva  19,9%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correlaciones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pic>
        <p:nvPicPr>
          <p:cNvPr id="8" name="Image 1" descr="C:/Users/usuario/OneDrive/UNI_Mario5/TFG/TFG_Chollos/images/correlacion_lin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36719"/>
            <a:ext cx="7496355" cy="534965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87396" y="1627632"/>
            <a:ext cx="4655659" cy="1676975"/>
          </a:xfrm>
          <a:prstGeom prst="roundRect">
            <a:avLst>
              <a:gd name="adj" fmla="val 372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7150736" y="1792224"/>
            <a:ext cx="42637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 presenta correlación lineal fuerte con el precio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150736" y="2359152"/>
            <a:ext cx="4263719" cy="76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tamaño_habitacion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0,27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distancia_centro_km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estrellas · Piscina 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3B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87395" y="3880852"/>
            <a:ext cx="4655659" cy="1386092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3" name="Text 9"/>
          <p:cNvSpPr/>
          <p:nvPr/>
        </p:nvSpPr>
        <p:spPr>
          <a:xfrm>
            <a:off x="7150735" y="4063732"/>
            <a:ext cx="4367975" cy="101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son fundamentalmente no lineales.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Esto explica la gran diferencia entre la regresión lineal (R² = 0,14) y el bosque aleatorio (R² = 0,87), capaz de capturarlas.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regresión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6537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691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Múltiple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paramétrico base (OLS); asume una relación lineal entre variables y precio.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45352" y="1508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473952" y="1737360"/>
            <a:ext cx="502920" cy="50292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8653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14032" y="16916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(CART)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19672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 el espacio de características de forma recursiva en regiones homogéneas.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2A4F5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92277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 Aleatorio (Random Forest)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2296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árboles vía bagging y selección aleatoria de variables.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45352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6473952" y="3794760"/>
            <a:ext cx="502920" cy="502920"/>
          </a:xfrm>
          <a:prstGeom prst="ellipse">
            <a:avLst/>
          </a:prstGeom>
          <a:solidFill>
            <a:srgbClr val="8C402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92277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14032" y="37490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(Gradient Boosting)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519672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aditiva e iterativa: cada árbol corrige los errores del anterior.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rejilla con validación cruzada de 3 pliegues (GridSearchCV, scoring = neg_mean_squared_error)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A6F68"/>
                </a:solidFill>
                <a:latin typeface="Calibri"/>
              </a:rPr>
              <a:t>Detección de Alojamientos Turísticos con Precio Real Inferior — TFG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7A6F68"/>
                </a:solidFill>
                <a:latin typeface="Calibri"/>
              </a:rPr>
              <a:t>13 / 23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7A6F68"/>
                </a:solidFill>
                <a:latin typeface="Calibri"/>
              </a:rPr>
              <a:t>MODELIZACIÓN Y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640080"/>
            <a:ext cx="9966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2B2320"/>
                </a:solidFill>
                <a:latin typeface="Cambria"/>
              </a:rPr>
              <a:t>Árbol de </a:t>
            </a:r>
            <a:r>
              <a:rPr lang="es-ES" sz="2800" b="1" i="0" dirty="0">
                <a:solidFill>
                  <a:srgbClr val="2B2320"/>
                </a:solidFill>
                <a:latin typeface="Cambria"/>
              </a:rPr>
              <a:t>regresión</a:t>
            </a:r>
            <a:endParaRPr sz="2800" b="1" i="0" dirty="0">
              <a:solidFill>
                <a:srgbClr val="2B2320"/>
              </a:solidFill>
              <a:latin typeface="Cambria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070966"/>
            <a:ext cx="9815886" cy="48731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5944124"/>
            <a:ext cx="96012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 dirty="0">
                <a:solidFill>
                  <a:srgbClr val="7A6F68"/>
                </a:solidFill>
                <a:latin typeface="Calibri"/>
              </a:rPr>
              <a:t>Uno de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los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cuatro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modelos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candidatos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(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Sección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4.3): el árbol de </a:t>
            </a:r>
            <a:r>
              <a:rPr lang="es-ES" sz="1150" b="0" i="1" dirty="0">
                <a:solidFill>
                  <a:srgbClr val="7A6F68"/>
                </a:solidFill>
                <a:latin typeface="Calibri"/>
              </a:rPr>
              <a:t>regresión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particiona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el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espacio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de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características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de forma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recursiva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. La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raíz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es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tamaño_habitacion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(≤ 75,5m²); el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segundo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nivel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 es </a:t>
            </a:r>
            <a:r>
              <a:rPr sz="1150" b="0" i="1" dirty="0" err="1">
                <a:solidFill>
                  <a:srgbClr val="7A6F68"/>
                </a:solidFill>
                <a:latin typeface="Calibri"/>
              </a:rPr>
              <a:t>provincia</a:t>
            </a:r>
            <a:r>
              <a:rPr sz="1150" b="0" i="1" dirty="0">
                <a:solidFill>
                  <a:srgbClr val="7A6F6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los modelos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569378"/>
              </p:ext>
            </p:extLst>
          </p:nvPr>
        </p:nvGraphicFramePr>
        <p:xfrm>
          <a:off x="548640" y="1554480"/>
          <a:ext cx="6949439" cy="2468880"/>
        </p:xfrm>
        <a:graphic>
          <a:graphicData uri="http://schemas.openxmlformats.org/drawingml/2006/table">
            <a:tbl>
              <a:tblPr/>
              <a:tblGrid>
                <a:gridCol w="2951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</a:t>
                      </a:r>
                      <a:r>
                        <a:rPr lang="en-US" sz="1300" dirty="0" err="1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Bosque aleatorio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C40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794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sobre el conjunto de validación (Tabla 7.3)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251960"/>
            <a:ext cx="6949440" cy="1051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04672" y="4434840"/>
            <a:ext cx="64258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Sobre el conjunto de </a:t>
            </a:r>
            <a:r>
              <a:rPr lang="en-US" sz="13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0,8676   MAE = 19,43€   RMSE = 33,05€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54111" y="15544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891271" y="1664208"/>
            <a:ext cx="3474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891271" y="2433218"/>
            <a:ext cx="34747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proporción de varianza del precio explicada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7754111" y="31546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891271" y="3264408"/>
            <a:ext cx="34747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19,4€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891271" y="4033418"/>
            <a:ext cx="34747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 (MAE) por noche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754111" y="4709160"/>
            <a:ext cx="3888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gana con amplia diferencia, sin indicios de sobreajuste entre validación y prueba (diferencia &lt; 0,001 en R²).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MODELIZACIÓN Y RESULTADOS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Interpretabilidad del bosque aleatorio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48640" y="1508760"/>
            <a:ext cx="1109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(bosque aleatorio)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1874519"/>
          <a:ext cx="110947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determinista de categorización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04672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4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precio real / precio predicho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 &lt; 1 → potencial chollo          r &gt; 1 →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30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inflado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3150"/>
              </p:ext>
            </p:extLst>
          </p:nvPr>
        </p:nvGraphicFramePr>
        <p:xfrm>
          <a:off x="548640" y="2423159"/>
          <a:ext cx="11091672" cy="224028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4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Hiper-chollo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≤ 0,75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≥25% por debajo del precio justo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Super-chollo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 &lt; r &lt; 0,85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15% y 25% por debajo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Chollo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≤ r &lt; 0,97</a:t>
                      </a:r>
                      <a:endParaRPr lang="en-US" sz="12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3% y 15% por debajo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 ≤ r ≤ 1,03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dentro del ±3%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Inflado</a:t>
                      </a:r>
                      <a:endParaRPr lang="en-US" sz="12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&gt; 1,03</a:t>
                      </a:r>
                      <a:endParaRPr lang="en-US" sz="12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&gt; 3% por encima del justo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068365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4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regla determinista y no un clasificador ML?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de chollo no es una propiedad observable del alojamiento, sino una relación entre precio real y predicho: entrenar un clasificador añadiría una capa de aprendizaje redundante sobre información ya contenida en el ratio r, y restaría interpretabilidad y reproducibilidad al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en el conjunto de prueba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073266338"/>
              </p:ext>
            </p:extLst>
          </p:nvPr>
        </p:nvGraphicFramePr>
        <p:xfrm>
          <a:off x="548640" y="15544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1554480"/>
            <a:ext cx="5120640" cy="1800000"/>
          </a:xfrm>
          <a:prstGeom prst="roundRect">
            <a:avLst>
              <a:gd name="adj" fmla="val 4444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629400" y="1706880"/>
            <a:ext cx="4846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6E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41,5%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629400" y="25603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un chollo (Chollo + Super + Hiper)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429000"/>
          <a:ext cx="5120640" cy="1600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Hiper-chollo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125.338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787804" y="3017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390.462 registros del conjunto de prueba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aplicación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22960" y="1810512"/>
            <a:ext cx="530352" cy="530352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9385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principal (Home)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22960" y="25146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interactivo de Andalucía (Plotly): número de alojamientos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puntos con la ubicación GPS de cada alojamiento único del histórico.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(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habitación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estrellas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45352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519672" y="1810512"/>
            <a:ext cx="530352" cy="530352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385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05472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búsqueda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6519672" y="251460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preferencias: destino, fechas, tipo de alojamiento, hasta 16 filtros de servicios.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deslizante de 3 niveles de exigencia para la categorización de chollo.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tabla interactiva, ordenados por grado de ahorro, con gráfico de tarta.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de la </a:t>
            </a:r>
            <a:r>
              <a:rPr lang="en-US" sz="2800" b="1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5544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444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preferencias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035040" y="1463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Destino, fechas, tipo, servicios y nivel de exigencia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3172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2221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en tiempo real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3504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25 alojamientos por localidad seleccionada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5486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0896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2999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035040" y="30175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secuencia de transformaciones que en el entrenamiento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81304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5486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8862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3776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035040" y="3794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serializados con joblib (mismo espacio de características)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466344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020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y categorización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035040" y="4572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podado + ratio r + umbrales del nivel elegido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6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5440680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0020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resultados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6035040" y="5349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ordenada por ahorro y gráfico de categorías</a:t>
            </a:r>
            <a:endParaRPr lang="en-US" sz="12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DE033A3F-F28A-8445-EE73-3FE5D95C9782}"/>
              </a:ext>
            </a:extLst>
          </p:cNvPr>
          <p:cNvSpPr/>
          <p:nvPr/>
        </p:nvSpPr>
        <p:spPr>
          <a:xfrm>
            <a:off x="545092" y="4594860"/>
            <a:ext cx="457200" cy="45720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r>
              <a:rPr lang="es-E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memoria para el despliegue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>
              <a:lumMod val="90000"/>
            </a:schemeClr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04672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55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0116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(100 árboles)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ocupa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~1,4GB </a:t>
            </a:r>
            <a:r>
              <a:rPr lang="en-US" sz="125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</a:t>
            </a:r>
            <a:r>
              <a:rPr lang="en-US" sz="12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deserializarlo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encima del límite gratuito de Streamlit Community Cloud (~1GB), lo que provocaba el cierre de la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También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ocupaba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~1,3GB </a:t>
            </a:r>
            <a:r>
              <a:rPr lang="en-US" sz="125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encima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subida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(100MB),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lo que era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necesaria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vía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Web.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01384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15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01384" y="201168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predicción del bosque es el promedio de sus árboles: se pueden descartar árboles ya entrenados 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 reentrenar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conservan 20 de los 100 árboles: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~373MB </a:t>
            </a:r>
            <a:r>
              <a:rPr lang="en-US" sz="125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</a:t>
            </a:r>
            <a:r>
              <a:rPr lang="en-US" sz="125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(&lt;1GB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~59MB </a:t>
            </a:r>
            <a:r>
              <a:rPr lang="en-US" sz="125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comprimido</a:t>
            </a:r>
            <a:r>
              <a:rPr lang="en-US" sz="125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 (&lt; 100MB del </a:t>
            </a:r>
            <a:r>
              <a:rPr lang="en-US" sz="1250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sz="12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GitHub).</a:t>
            </a: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85388"/>
              </p:ext>
            </p:extLst>
          </p:nvPr>
        </p:nvGraphicFramePr>
        <p:xfrm>
          <a:off x="1705011" y="4535424"/>
          <a:ext cx="8477178" cy="977229"/>
        </p:xfrm>
        <a:graphic>
          <a:graphicData uri="http://schemas.openxmlformats.org/drawingml/2006/table">
            <a:tbl>
              <a:tblPr/>
              <a:tblGrid>
                <a:gridCol w="2571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Podado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0,8634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19,79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33,57</a:t>
                      </a:r>
                      <a:endParaRPr lang="en-US" sz="12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1705011" y="5631406"/>
            <a:ext cx="8477178" cy="37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mínima de rendimiento; el modelo podado sigue superando ampliamente al 2º mejor modelo (árbol de </a:t>
            </a:r>
            <a:r>
              <a:rPr lang="en-US" sz="1200" i="1" dirty="0" err="1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R² = 0,59).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6245352" y="3734946"/>
            <a:ext cx="5394960" cy="437359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dirty="0">
                <a:solidFill>
                  <a:srgbClr val="241A16"/>
                </a:solidFill>
                <a:latin typeface="Calibri"/>
              </a:rPr>
              <a:t>373MB </a:t>
            </a:r>
            <a:r>
              <a:rPr sz="1250" b="1" dirty="0" err="1">
                <a:solidFill>
                  <a:srgbClr val="241A16"/>
                </a:solidFill>
                <a:latin typeface="Calibri"/>
              </a:rPr>
              <a:t>en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RAM 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es 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1/4 del original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 y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59MB </a:t>
            </a:r>
            <a:r>
              <a:rPr sz="1250" b="1" dirty="0" err="1">
                <a:solidFill>
                  <a:srgbClr val="241A16"/>
                </a:solidFill>
                <a:latin typeface="Calibri"/>
              </a:rPr>
              <a:t>en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 disco </a:t>
            </a:r>
            <a:r>
              <a:rPr lang="es-ES" sz="1250" b="1" dirty="0">
                <a:solidFill>
                  <a:srgbClr val="241A16"/>
                </a:solidFill>
                <a:latin typeface="Calibri"/>
              </a:rPr>
              <a:t>es </a:t>
            </a:r>
            <a:r>
              <a:rPr sz="1250" b="1" dirty="0">
                <a:solidFill>
                  <a:srgbClr val="241A16"/>
                </a:solidFill>
                <a:latin typeface="Calibri"/>
              </a:rPr>
              <a:t>~1/22 del original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77240" y="1792224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293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6642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20482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bosque aleatorio explica el 86,8% de la varianza del precio (R² = 0,8676) con un MAE de 19,43€/noche.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724912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77240" y="2962656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998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8346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cada 10 alojamientos son un chollo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08760" y="3218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41,5% del conjunto de prueba se clasifica en alguna categoría de chollo (r &lt; 0,97).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895344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70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005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dato es más determinante que el algoritmo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508760" y="4389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 en dos fases, geocodificación y gestión rigurosa de outliers, sin indicios claros de sobreajuste.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65776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F6EEE8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1755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end-to-end es el verdadero reto de ingeniería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508760" y="5559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Encoders, escalador y modelo comparten exactamente el mismo espacio de características gracias a un diseño modular.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Alojamientos Turísticos con Precio Real Inferior — TFG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B856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16736" y="4206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6736" y="6400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" y="564916"/>
            <a:ext cx="351495" cy="351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276856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2387498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24942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a otras plataformas y territorios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25328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cobertura a otras comunidades autónomas u otras OTA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3191256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301898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6382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periódica del modelo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34472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automatizado ante la dinámica de precios de las OTA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4216298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07822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de variables de texto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43616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de reseñas y descripciones mediante modelos de lenguaje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" y="5130698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99262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hiper-chollo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80160" y="52760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proactiva sin que el usuario inicie la búsqueda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1350454"/>
            <a:ext cx="502920" cy="502920"/>
          </a:xfrm>
          <a:prstGeom prst="ellipse">
            <a:avLst/>
          </a:prstGeom>
          <a:solidFill>
            <a:srgbClr val="3B6E7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" y="1461096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1323022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50" b="1" i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50" b="1" i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“one-hot-encoding”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280160" y="1606486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modelo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pueda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aprender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patrones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través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orden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3456432"/>
            <a:ext cx="548640" cy="54864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935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3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1508760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github.com/Marjimleo3/Trabajo-Fin-de-Grado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01384" y="3456432"/>
            <a:ext cx="548640" cy="54864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5935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3337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en producción</a:t>
            </a:r>
            <a:endParaRPr lang="en-US" sz="1300" dirty="0"/>
          </a:p>
        </p:txBody>
      </p:sp>
      <p:sp>
        <p:nvSpPr>
          <p:cNvPr id="13" name="Text 9">
            <a:hlinkClick r:id="rId6"/>
          </p:cNvPr>
          <p:cNvSpPr/>
          <p:nvPr/>
        </p:nvSpPr>
        <p:spPr>
          <a:xfrm>
            <a:off x="7205472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uqnnwjgaf3t5xesuorvizo.streamlit.app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León  ·  Universidad de Sevilla  ·  Grado en Estadística  ·  2025/2026</a:t>
            </a:r>
            <a:endParaRPr lang="en-US" sz="11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513E10D-C228-8FC2-6BA5-4F2DF2D84FBD}"/>
              </a:ext>
            </a:extLst>
          </p:cNvPr>
          <p:cNvSpPr/>
          <p:nvPr/>
        </p:nvSpPr>
        <p:spPr>
          <a:xfrm>
            <a:off x="6245352" y="4709160"/>
            <a:ext cx="5394960" cy="960120"/>
          </a:xfrm>
          <a:prstGeom prst="roundRect">
            <a:avLst>
              <a:gd name="adj" fmla="val 516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EC70DE6-EA77-7973-0FD4-F1DC7EF04DF8}"/>
              </a:ext>
            </a:extLst>
          </p:cNvPr>
          <p:cNvSpPr/>
          <p:nvPr/>
        </p:nvSpPr>
        <p:spPr>
          <a:xfrm>
            <a:off x="6501384" y="4965192"/>
            <a:ext cx="548640" cy="548640"/>
          </a:xfrm>
          <a:prstGeom prst="ellipse">
            <a:avLst/>
          </a:prstGeom>
          <a:solidFill>
            <a:srgbClr val="D99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F9EA4143-AABE-9ACA-A489-8B16185C03D5}"/>
              </a:ext>
            </a:extLst>
          </p:cNvPr>
          <p:cNvSpPr/>
          <p:nvPr/>
        </p:nvSpPr>
        <p:spPr>
          <a:xfrm>
            <a:off x="7205472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la App Web</a:t>
            </a:r>
            <a:endParaRPr lang="en-US" sz="1300" dirty="0"/>
          </a:p>
        </p:txBody>
      </p:sp>
      <p:sp>
        <p:nvSpPr>
          <p:cNvPr id="19" name="Text 9">
            <a:hlinkClick r:id="rId6"/>
            <a:extLst>
              <a:ext uri="{FF2B5EF4-FFF2-40B4-BE49-F238E27FC236}">
                <a16:creationId xmlns:a16="http://schemas.microsoft.com/office/drawing/2014/main" id="{1CB2A5E9-5F50-9654-C2E3-6E3557456271}"/>
              </a:ext>
            </a:extLst>
          </p:cNvPr>
          <p:cNvSpPr/>
          <p:nvPr/>
        </p:nvSpPr>
        <p:spPr>
          <a:xfrm>
            <a:off x="7205472" y="51480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hlinkClick r:id="rId7"/>
              </a:rPr>
              <a:t>Home · </a:t>
            </a:r>
            <a:r>
              <a:rPr lang="en-US" sz="1000" dirty="0" err="1">
                <a:hlinkClick r:id="rId7"/>
              </a:rPr>
              <a:t>Streamlit</a:t>
            </a:r>
            <a:r>
              <a:rPr lang="en-US" sz="1000" dirty="0">
                <a:hlinkClick r:id="rId7"/>
              </a:rPr>
              <a:t> - Personal_ Microsoft​ Edge 2026-07-21 20-58-33.mp4 - Google Drive</a:t>
            </a:r>
            <a:endParaRPr lang="en-US" sz="1000" dirty="0"/>
          </a:p>
        </p:txBody>
      </p:sp>
      <p:pic>
        <p:nvPicPr>
          <p:cNvPr id="20" name="Picture 19" descr="video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10235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2589</Words>
  <Application>Microsoft Office PowerPoint</Application>
  <PresentationFormat>Panorámica</PresentationFormat>
  <Paragraphs>468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Alojamientos Turísticos con Precio Real Inferior al Valor Predicho según Preferencias del Usuario</dc:title>
  <dc:subject>PptxGenJS Presentation</dc:subject>
  <dc:creator>Mario Jiménez León</dc:creator>
  <cp:lastModifiedBy>Mario Jimenez</cp:lastModifiedBy>
  <cp:revision>77</cp:revision>
  <dcterms:created xsi:type="dcterms:W3CDTF">2026-07-10T11:49:07Z</dcterms:created>
  <dcterms:modified xsi:type="dcterms:W3CDTF">2026-07-21T19:35:34Z</dcterms:modified>
</cp:coreProperties>
</file>